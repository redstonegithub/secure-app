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978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286000"/>
            <a:ext cx="12188952" cy="2560320"/>
          </a:xfrm>
          <a:prstGeom prst="rect">
            <a:avLst/>
          </a:prstGeom>
          <a:solidFill>
            <a:srgbClr val="161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791456"/>
            <a:ext cx="12188952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2514600"/>
            <a:ext cx="112471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dirty="0">
                <a:solidFill>
                  <a:srgbClr val="FFFFFF"/>
                </a:solidFill>
                <a:latin typeface="Calibri"/>
              </a:rPr>
              <a:t>Secure Document Sharing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520440"/>
            <a:ext cx="1124712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 i="0" dirty="0">
                <a:solidFill>
                  <a:srgbClr val="CADCFC"/>
                </a:solidFill>
                <a:latin typeface="Calibri"/>
              </a:rPr>
              <a:t>CS 419  —  Spring 2026</a:t>
            </a:r>
            <a:endParaRPr lang="en-US" sz="2800" b="0" i="0" dirty="0">
              <a:solidFill>
                <a:srgbClr val="CADCFC"/>
              </a:solidFill>
              <a:latin typeface="Calibri"/>
            </a:endParaRPr>
          </a:p>
          <a:p>
            <a:pPr algn="ctr"/>
            <a:r>
              <a:rPr lang="en-US" sz="2800" dirty="0">
                <a:solidFill>
                  <a:srgbClr val="CADCFC"/>
                </a:solidFill>
                <a:latin typeface="Calibri"/>
              </a:rPr>
              <a:t>Ayan Ashraf, Nilayan Lahiri</a:t>
            </a:r>
            <a:endParaRPr sz="2800" b="0" i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Project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5486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 dirty="0">
                <a:solidFill>
                  <a:srgbClr val="1E2761"/>
                </a:solidFill>
                <a:latin typeface="Calibri"/>
              </a:rPr>
              <a:t>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530352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 dirty="0">
                <a:solidFill>
                  <a:srgbClr val="556580"/>
                </a:solidFill>
                <a:latin typeface="Calibri"/>
              </a:rPr>
              <a:t>A web application that lets users securely upload, store, share, and manage documents</a:t>
            </a:r>
            <a:r>
              <a:rPr lang="en-US" sz="1600" dirty="0">
                <a:solidFill>
                  <a:srgbClr val="556580"/>
                </a:solidFill>
                <a:latin typeface="Calibri"/>
              </a:rPr>
              <a:t>.</a:t>
            </a:r>
            <a:endParaRPr sz="1600" b="0" i="0" dirty="0">
              <a:solidFill>
                <a:srgbClr val="55658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2514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Core capabilities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3035808"/>
            <a:ext cx="54864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2064" y="2926080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dirty="0">
                <a:solidFill>
                  <a:srgbClr val="1E2761"/>
                </a:solidFill>
                <a:latin typeface="Calibri"/>
              </a:rPr>
              <a:t>Role-based access control  (Admin / User / Guest)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3383280"/>
            <a:ext cx="54864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12064" y="3273552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End-to-end encryption at rest with Fernet (AES-128-CBC)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730752"/>
            <a:ext cx="54864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" y="3621024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Document versioning and restore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078224"/>
            <a:ext cx="54864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2064" y="3968496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Secure sharing with Editor / Viewer permissions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425696"/>
            <a:ext cx="54864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2064" y="4315968"/>
            <a:ext cx="5212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761"/>
                </a:solidFill>
                <a:latin typeface="Calibri"/>
              </a:rPr>
              <a:t>Full audit trail across two structured log files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1005840"/>
            <a:ext cx="23774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83680" y="1005840"/>
            <a:ext cx="2377440" cy="123444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0" y="10972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A90D9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580"/>
                </a:solidFill>
                <a:latin typeface="Calibri"/>
              </a:rPr>
              <a:t>User Roles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1005840"/>
            <a:ext cx="23774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235440" y="1005840"/>
            <a:ext cx="2377440" cy="123444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26880" y="10972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A90D9"/>
                </a:solidFill>
                <a:latin typeface="Calibri"/>
              </a:rPr>
              <a:t>AES-128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69164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580"/>
                </a:solidFill>
                <a:latin typeface="Calibri"/>
              </a:rPr>
              <a:t>Encryption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0" y="2468880"/>
            <a:ext cx="23774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583680" y="2468880"/>
            <a:ext cx="2377440" cy="123444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75120" y="25603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A90D9"/>
                </a:solidFill>
                <a:latin typeface="Calibr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3154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580"/>
                </a:solidFill>
                <a:latin typeface="Calibri"/>
              </a:rPr>
              <a:t>Security Headers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2468880"/>
            <a:ext cx="237744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9235440" y="2468880"/>
            <a:ext cx="2377440" cy="123444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326880" y="25603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4A90D9"/>
                </a:solidFill>
                <a:latin typeface="Calibri"/>
              </a:rPr>
              <a:t>130+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26880" y="3154680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556580"/>
                </a:solidFill>
                <a:latin typeface="Calibri"/>
              </a:rPr>
              <a:t>Automated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Security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16735" y="1371600"/>
            <a:ext cx="201168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316735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16735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HTML5 / JS
User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3374135" y="1929384"/>
            <a:ext cx="411480" cy="73152"/>
          </a:xfrm>
          <a:prstGeom prst="rect">
            <a:avLst/>
          </a:prstGeom>
          <a:solidFill>
            <a:srgbClr val="556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31335" y="1371600"/>
            <a:ext cx="201168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831335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TLS / HTTPS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31335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Self-signed cert
Port 5000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88736" y="1929384"/>
            <a:ext cx="411480" cy="73152"/>
          </a:xfrm>
          <a:prstGeom prst="rect">
            <a:avLst/>
          </a:prstGeom>
          <a:solidFill>
            <a:srgbClr val="556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45936" y="1371600"/>
            <a:ext cx="2011680" cy="11887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45936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Flask App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Routes · Auth
RBAC · Validation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03336" y="1929384"/>
            <a:ext cx="411480" cy="73152"/>
          </a:xfrm>
          <a:prstGeom prst="rect">
            <a:avLst/>
          </a:prstGeom>
          <a:solidFill>
            <a:srgbClr val="556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860536" y="1371600"/>
            <a:ext cx="2011680" cy="1188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0536" y="14630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Encrypted 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0536" y="19202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ADCFC"/>
                </a:solidFill>
                <a:latin typeface="Calibri"/>
              </a:rPr>
              <a:t>Fernet .enc files
JSON sessions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88036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Security Controls Applied at Each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3383280"/>
            <a:ext cx="34747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20040" y="3383280"/>
            <a:ext cx="3474720" cy="10972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3383280"/>
            <a:ext cx="347472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3493008"/>
            <a:ext cx="32918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E2761"/>
                </a:solidFill>
                <a:latin typeface="Calibri"/>
              </a:rPr>
              <a:t>Authentication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822191"/>
            <a:ext cx="329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80"/>
                </a:solidFill>
                <a:latin typeface="Calibri"/>
              </a:rPr>
              <a:t>bcrypt · lockout · rate limiting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79" y="3383280"/>
            <a:ext cx="34747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069079" y="3383280"/>
            <a:ext cx="3474720" cy="10972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069079" y="3383280"/>
            <a:ext cx="347472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206240" y="3493008"/>
            <a:ext cx="32918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Authorization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822191"/>
            <a:ext cx="329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80"/>
                </a:solidFill>
                <a:latin typeface="Calibri"/>
              </a:rPr>
              <a:t>RBAC decorators · ownership checks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18119" y="3383280"/>
            <a:ext cx="34747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7818119" y="3383280"/>
            <a:ext cx="3474720" cy="10972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818119" y="3383280"/>
            <a:ext cx="347472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955279" y="3493008"/>
            <a:ext cx="32918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Input Handling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3822191"/>
            <a:ext cx="329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80"/>
                </a:solidFill>
                <a:latin typeface="Calibri"/>
              </a:rPr>
              <a:t>Whitelist validation · path traversal prevention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4663440"/>
            <a:ext cx="34747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20040" y="4663440"/>
            <a:ext cx="3474720" cy="10972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20040" y="4663440"/>
            <a:ext cx="347472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4773168"/>
            <a:ext cx="32918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Data Protection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102352"/>
            <a:ext cx="329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80"/>
                </a:solidFill>
                <a:latin typeface="Calibri"/>
              </a:rPr>
              <a:t>Fernet encryption · secure deletion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69079" y="4663440"/>
            <a:ext cx="34747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069079" y="4663440"/>
            <a:ext cx="3474720" cy="10972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4069079" y="4663440"/>
            <a:ext cx="347472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206240" y="4773168"/>
            <a:ext cx="32918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Transport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5102352"/>
            <a:ext cx="329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80"/>
                </a:solidFill>
                <a:latin typeface="Calibri"/>
              </a:rPr>
              <a:t>HTTPS redirect · HSTS · SameSite cookies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18119" y="4663440"/>
            <a:ext cx="347472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818119" y="4663440"/>
            <a:ext cx="3474720" cy="10972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7818119" y="4663440"/>
            <a:ext cx="3474720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55279" y="4773168"/>
            <a:ext cx="329183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Observability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5102352"/>
            <a:ext cx="329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56580"/>
                </a:solidFill>
                <a:latin typeface="Calibri"/>
              </a:rPr>
              <a:t>security.log · access.log · structured JSON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Key Security Implementations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6012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394960" cy="13258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6400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Authentication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5166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80"/>
                </a:solidFill>
                <a:latin typeface="Calibri"/>
              </a:rPr>
              <a:t>bcrypt (cost 12) · 5-attempt lockout · IP rate limiting · password policy enforcement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960120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Rectangle 9"/>
          <p:cNvSpPr/>
          <p:nvPr/>
        </p:nvSpPr>
        <p:spPr>
          <a:xfrm>
            <a:off x="6355080" y="960120"/>
            <a:ext cx="5394960" cy="13258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6400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TextBox 11"/>
          <p:cNvSpPr txBox="1"/>
          <p:nvPr/>
        </p:nvSpPr>
        <p:spPr>
          <a:xfrm>
            <a:off x="6537960" y="105156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Encryption at 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435608"/>
            <a:ext cx="5166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80"/>
                </a:solidFill>
                <a:latin typeface="Calibri"/>
              </a:rPr>
              <a:t>Fernet (AES-128-CBC + HMAC-SHA256) · all documents encrypted before disk write · key auto-generated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450591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5" name="Rectangle 14"/>
          <p:cNvSpPr/>
          <p:nvPr/>
        </p:nvSpPr>
        <p:spPr>
          <a:xfrm>
            <a:off x="320040" y="2450591"/>
            <a:ext cx="5394960" cy="13258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6" name="Rectangle 15"/>
          <p:cNvSpPr/>
          <p:nvPr/>
        </p:nvSpPr>
        <p:spPr>
          <a:xfrm>
            <a:off x="320040" y="2450591"/>
            <a:ext cx="6400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6"/>
          <p:cNvSpPr txBox="1"/>
          <p:nvPr/>
        </p:nvSpPr>
        <p:spPr>
          <a:xfrm>
            <a:off x="502920" y="2542032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Role-Based Access 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926079"/>
            <a:ext cx="5166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80"/>
                </a:solidFill>
                <a:latin typeface="Calibri"/>
              </a:rPr>
              <a:t>3 roles: Admin / User / Guest · decorator-enforced · editor vs viewer distinction on shared docs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450591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0" name="Rectangle 19"/>
          <p:cNvSpPr/>
          <p:nvPr/>
        </p:nvSpPr>
        <p:spPr>
          <a:xfrm>
            <a:off x="6355080" y="2450591"/>
            <a:ext cx="5394960" cy="13258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1" name="Rectangle 20"/>
          <p:cNvSpPr/>
          <p:nvPr/>
        </p:nvSpPr>
        <p:spPr>
          <a:xfrm>
            <a:off x="6355080" y="2450591"/>
            <a:ext cx="6400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2" name="TextBox 21"/>
          <p:cNvSpPr txBox="1"/>
          <p:nvPr/>
        </p:nvSpPr>
        <p:spPr>
          <a:xfrm>
            <a:off x="6537960" y="2542032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Session 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2926079"/>
            <a:ext cx="5166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80"/>
                </a:solidFill>
                <a:latin typeface="Calibri"/>
              </a:rPr>
              <a:t>cryptographic tokens (secrets.token_urlsafe) · 30 min timeout · HttpOnly + Secure + SameSite=Strict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941063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20040" y="3941063"/>
            <a:ext cx="5394960" cy="13258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3941063"/>
            <a:ext cx="6400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2920" y="4032503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Input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416552"/>
            <a:ext cx="5166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80"/>
                </a:solidFill>
                <a:latin typeface="Calibri"/>
              </a:rPr>
              <a:t>UUID regex on doc IDs · extension + MIME whitelist · 10 MB limit · Jinja2 auto-escaping for XSS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3941063"/>
            <a:ext cx="5394960" cy="1325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55080" y="3941063"/>
            <a:ext cx="5394960" cy="132588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355080" y="3941063"/>
            <a:ext cx="64008" cy="132588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37960" y="4032503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Audit Logging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416552"/>
            <a:ext cx="51663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80"/>
                </a:solidFill>
                <a:latin typeface="Calibri"/>
              </a:rPr>
              <a:t>security.log for auth/security events · access.log for data access · structured JSON with IP + timestamp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Penetration Testing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973836" y="960120"/>
            <a:ext cx="18288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73836" y="960120"/>
            <a:ext cx="1828800" cy="123444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973836" y="960120"/>
            <a:ext cx="182880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3836" y="1051560"/>
            <a:ext cx="1828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DC2626"/>
                </a:solidFill>
                <a:latin typeface="Calibri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3836" y="173736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6580"/>
                </a:solidFill>
                <a:latin typeface="Calibri"/>
              </a:rPr>
              <a:t>Critical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3076956" y="960120"/>
            <a:ext cx="18288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076956" y="960120"/>
            <a:ext cx="1828800" cy="1234440"/>
          </a:xfrm>
          <a:prstGeom prst="rect">
            <a:avLst/>
          </a:prstGeom>
          <a:noFill/>
          <a:ln w="2540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76956" y="960120"/>
            <a:ext cx="1828800" cy="6400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76956" y="1051560"/>
            <a:ext cx="1828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EA580C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6956" y="173736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6580"/>
                </a:solidFill>
                <a:latin typeface="Calibri"/>
              </a:rPr>
              <a:t>High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80075" y="960120"/>
            <a:ext cx="18288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180075" y="960120"/>
            <a:ext cx="1828800" cy="1234440"/>
          </a:xfrm>
          <a:prstGeom prst="rect">
            <a:avLst/>
          </a:prstGeom>
          <a:noFill/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80075" y="960120"/>
            <a:ext cx="1828800" cy="6400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80075" y="1051560"/>
            <a:ext cx="1828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D97706"/>
                </a:solidFill>
                <a:latin typeface="Calibri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80075" y="173736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6580"/>
                </a:solidFill>
                <a:latin typeface="Calibri"/>
              </a:rPr>
              <a:t>Medium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83196" y="960120"/>
            <a:ext cx="18288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283196" y="960120"/>
            <a:ext cx="1828800" cy="1234440"/>
          </a:xfrm>
          <a:prstGeom prst="rect">
            <a:avLst/>
          </a:prstGeom>
          <a:noFill/>
          <a:ln w="25400">
            <a:solidFill>
              <a:srgbClr val="16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283196" y="960120"/>
            <a:ext cx="1828800" cy="64008"/>
          </a:xfrm>
          <a:prstGeom prst="rect">
            <a:avLst/>
          </a:prstGeom>
          <a:solidFill>
            <a:srgbClr val="16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83196" y="1051560"/>
            <a:ext cx="1828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678D4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3196" y="173736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6580"/>
                </a:solidFill>
                <a:latin typeface="Calibri"/>
              </a:rPr>
              <a:t>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86315" y="960120"/>
            <a:ext cx="18288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9386315" y="960120"/>
            <a:ext cx="1828800" cy="1234440"/>
          </a:xfrm>
          <a:prstGeom prst="rect">
            <a:avLst/>
          </a:prstGeom>
          <a:noFill/>
          <a:ln w="25400">
            <a:solidFill>
              <a:srgbClr val="5565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386315" y="960120"/>
            <a:ext cx="1828800" cy="64008"/>
          </a:xfrm>
          <a:prstGeom prst="rect">
            <a:avLst/>
          </a:prstGeom>
          <a:solidFill>
            <a:srgbClr val="5565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386315" y="1051560"/>
            <a:ext cx="18288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556580"/>
                </a:solidFill>
                <a:latin typeface="Calibri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86315" y="1737360"/>
            <a:ext cx="18288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556580"/>
                </a:solidFill>
                <a:latin typeface="Calibri"/>
              </a:rPr>
              <a:t>Info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2423160"/>
            <a:ext cx="731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>
                <a:solidFill>
                  <a:srgbClr val="1E2761"/>
                </a:solidFill>
                <a:latin typeface="Calibri"/>
              </a:rPr>
              <a:t>Notable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880360"/>
            <a:ext cx="11521440" cy="384048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411479" y="2953512"/>
            <a:ext cx="100583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Severity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2953512"/>
            <a:ext cx="283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Finding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2953512"/>
            <a:ext cx="70408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3264408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320040" y="3264408"/>
            <a:ext cx="11521440" cy="475488"/>
          </a:xfrm>
          <a:prstGeom prst="rect">
            <a:avLst/>
          </a:prstGeom>
          <a:noFill/>
          <a:ln w="635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411479" y="3355848"/>
            <a:ext cx="1005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78D4"/>
                </a:solidFill>
                <a:latin typeface="Calibri"/>
              </a:rPr>
              <a:t>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3355848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Username enumeration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310127"/>
            <a:ext cx="69494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6580"/>
                </a:solidFill>
                <a:latin typeface="Calibri"/>
              </a:rPr>
              <a:t>Registration reveals whether username or email already exists separately.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3758183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0" name="Rectangle 39"/>
          <p:cNvSpPr/>
          <p:nvPr/>
        </p:nvSpPr>
        <p:spPr>
          <a:xfrm>
            <a:off x="320040" y="3758183"/>
            <a:ext cx="11521440" cy="475488"/>
          </a:xfrm>
          <a:prstGeom prst="rect">
            <a:avLst/>
          </a:prstGeom>
          <a:noFill/>
          <a:ln w="635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1" name="TextBox 40"/>
          <p:cNvSpPr txBox="1"/>
          <p:nvPr/>
        </p:nvSpPr>
        <p:spPr>
          <a:xfrm>
            <a:off x="411479" y="3849623"/>
            <a:ext cx="1005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678D4"/>
                </a:solidFill>
                <a:latin typeface="Calibri"/>
              </a:rPr>
              <a:t>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3849623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No rate limit on /change-password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34840" y="3803903"/>
            <a:ext cx="69494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6580"/>
                </a:solidFill>
                <a:latin typeface="Calibri"/>
              </a:rPr>
              <a:t>Password change endpoint lacks the throttling applied to /login.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251959"/>
            <a:ext cx="11521440" cy="4754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5" name="Rectangle 44"/>
          <p:cNvSpPr/>
          <p:nvPr/>
        </p:nvSpPr>
        <p:spPr>
          <a:xfrm>
            <a:off x="320040" y="4251959"/>
            <a:ext cx="11521440" cy="475488"/>
          </a:xfrm>
          <a:prstGeom prst="rect">
            <a:avLst/>
          </a:prstGeom>
          <a:noFill/>
          <a:ln w="635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6" name="TextBox 45"/>
          <p:cNvSpPr txBox="1"/>
          <p:nvPr/>
        </p:nvSpPr>
        <p:spPr>
          <a:xfrm>
            <a:off x="411479" y="4343399"/>
            <a:ext cx="10058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56580"/>
                </a:solidFill>
                <a:latin typeface="Calibri"/>
              </a:rPr>
              <a:t>INFO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4343399"/>
            <a:ext cx="283464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Secure deletion on SSDs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34840" y="4297679"/>
            <a:ext cx="694944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556580"/>
                </a:solidFill>
                <a:latin typeface="Calibri"/>
              </a:rPr>
              <a:t>Byte-overwrite before delete is best-effort only on modern storage.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4928616"/>
            <a:ext cx="115214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6A34A"/>
                </a:solidFill>
                <a:latin typeface="Calibri"/>
              </a:rPr>
              <a:t>All critical, high, and medium attack vectors were mitigated successfully.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7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Challenges &amp; Lessons Learned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914400"/>
            <a:ext cx="53949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96012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Challenges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6304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5394960" cy="141732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64008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File-based storage security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1663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556580"/>
                </a:solidFill>
                <a:latin typeface="Calibri"/>
              </a:rPr>
              <a:t>Ensuring encrypted JSON files on disk couldn't be tampered with or accessed outside the app required careful path validation and Fernet HMAC verification.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97180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2" name="Rectangle 11"/>
          <p:cNvSpPr/>
          <p:nvPr/>
        </p:nvSpPr>
        <p:spPr>
          <a:xfrm>
            <a:off x="320040" y="2971800"/>
            <a:ext cx="5394960" cy="141732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Rectangle 12"/>
          <p:cNvSpPr/>
          <p:nvPr/>
        </p:nvSpPr>
        <p:spPr>
          <a:xfrm>
            <a:off x="320040" y="2971800"/>
            <a:ext cx="64008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4" name="TextBox 13"/>
          <p:cNvSpPr txBox="1"/>
          <p:nvPr/>
        </p:nvSpPr>
        <p:spPr>
          <a:xfrm>
            <a:off x="502920" y="306324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1E2761"/>
                </a:solidFill>
                <a:latin typeface="Calibri"/>
              </a:rPr>
              <a:t>Balancing usability and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429000"/>
            <a:ext cx="51663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556580"/>
                </a:solidFill>
                <a:latin typeface="Calibri"/>
              </a:rPr>
              <a:t>Strict </a:t>
            </a:r>
            <a:r>
              <a:rPr sz="1100" b="0" i="0" dirty="0" err="1">
                <a:solidFill>
                  <a:srgbClr val="556580"/>
                </a:solidFill>
                <a:latin typeface="Calibri"/>
              </a:rPr>
              <a:t>SameSite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=Strict cookies and HTTPS-only enforcement </a:t>
            </a:r>
            <a:r>
              <a:rPr lang="en-US" sz="1100" b="0" i="0" dirty="0">
                <a:solidFill>
                  <a:srgbClr val="556580"/>
                </a:solidFill>
                <a:latin typeface="Calibri"/>
              </a:rPr>
              <a:t>was tricky to work with during 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development, requiring debug-mode exceptions.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48056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Rectangle 16"/>
          <p:cNvSpPr/>
          <p:nvPr/>
        </p:nvSpPr>
        <p:spPr>
          <a:xfrm>
            <a:off x="320040" y="4480560"/>
            <a:ext cx="5394960" cy="141732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8" name="Rectangle 17"/>
          <p:cNvSpPr/>
          <p:nvPr/>
        </p:nvSpPr>
        <p:spPr>
          <a:xfrm>
            <a:off x="320040" y="4480560"/>
            <a:ext cx="64008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/>
          <p:cNvSpPr txBox="1"/>
          <p:nvPr/>
        </p:nvSpPr>
        <p:spPr>
          <a:xfrm>
            <a:off x="502920" y="457200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Secure deletion limitations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937760"/>
            <a:ext cx="51663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556580"/>
                </a:solidFill>
                <a:latin typeface="Calibri"/>
              </a:rPr>
              <a:t>Discovered that byte-overwriting files does not guarantee erasure on SSDs</a:t>
            </a:r>
            <a:r>
              <a:rPr lang="en-US" sz="1100" b="0" i="0" dirty="0">
                <a:solidFill>
                  <a:srgbClr val="556580"/>
                </a:solidFill>
                <a:latin typeface="Calibri"/>
              </a:rPr>
              <a:t>, so we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 shifted reliance to encryption-key management as the primary deletion defense.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914400"/>
            <a:ext cx="53949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0" y="960120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Lessons Learned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146304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4" name="Rectangle 23"/>
          <p:cNvSpPr/>
          <p:nvPr/>
        </p:nvSpPr>
        <p:spPr>
          <a:xfrm>
            <a:off x="6400800" y="1463040"/>
            <a:ext cx="5394960" cy="141732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5" name="Rectangle 24"/>
          <p:cNvSpPr/>
          <p:nvPr/>
        </p:nvSpPr>
        <p:spPr>
          <a:xfrm>
            <a:off x="6400800" y="1463040"/>
            <a:ext cx="64008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6" name="TextBox 25"/>
          <p:cNvSpPr txBox="1"/>
          <p:nvPr/>
        </p:nvSpPr>
        <p:spPr>
          <a:xfrm>
            <a:off x="6583680" y="155448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dirty="0">
                <a:solidFill>
                  <a:srgbClr val="1E2761"/>
                </a:solidFill>
                <a:latin typeface="Calibri"/>
              </a:rPr>
              <a:t>Multiple layers of defense is important</a:t>
            </a:r>
            <a:endParaRPr sz="1600" b="1" i="0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583680" y="1920240"/>
            <a:ext cx="51663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 dirty="0">
                <a:solidFill>
                  <a:srgbClr val="556580"/>
                </a:solidFill>
                <a:latin typeface="Calibri"/>
              </a:rPr>
              <a:t>Combining RBAC, encryption, validation, and logging means an attacker must defeat multiple independent layers</a:t>
            </a:r>
            <a:r>
              <a:rPr lang="en-US" sz="1100" b="0" i="0" dirty="0">
                <a:solidFill>
                  <a:srgbClr val="556580"/>
                </a:solidFill>
                <a:latin typeface="Calibri"/>
              </a:rPr>
              <a:t> instead of just one.</a:t>
            </a:r>
            <a:endParaRPr sz="1100" b="0" i="0" dirty="0">
              <a:solidFill>
                <a:srgbClr val="556580"/>
              </a:solidFill>
              <a:latin typeface="Calibri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00800" y="297180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9" name="Rectangle 28"/>
          <p:cNvSpPr/>
          <p:nvPr/>
        </p:nvSpPr>
        <p:spPr>
          <a:xfrm>
            <a:off x="6400800" y="2971800"/>
            <a:ext cx="5394960" cy="141732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0" name="Rectangle 29"/>
          <p:cNvSpPr/>
          <p:nvPr/>
        </p:nvSpPr>
        <p:spPr>
          <a:xfrm>
            <a:off x="6400800" y="2971800"/>
            <a:ext cx="64008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1" name="TextBox 30"/>
          <p:cNvSpPr txBox="1"/>
          <p:nvPr/>
        </p:nvSpPr>
        <p:spPr>
          <a:xfrm>
            <a:off x="6583680" y="306324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i="0" dirty="0">
                <a:solidFill>
                  <a:srgbClr val="1E2761"/>
                </a:solidFill>
                <a:latin typeface="Calibri"/>
              </a:rPr>
              <a:t>Include a variet</a:t>
            </a:r>
            <a:r>
              <a:rPr lang="en-US" sz="1600" b="1" dirty="0">
                <a:solidFill>
                  <a:srgbClr val="1E2761"/>
                </a:solidFill>
                <a:latin typeface="Calibri"/>
              </a:rPr>
              <a:t>y of test cases</a:t>
            </a:r>
            <a:endParaRPr sz="1600" b="1" i="0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583680" y="3429000"/>
            <a:ext cx="51663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dirty="0">
                <a:solidFill>
                  <a:srgbClr val="556580"/>
                </a:solidFill>
                <a:latin typeface="Calibri"/>
              </a:rPr>
              <a:t>Test </a:t>
            </a:r>
            <a:r>
              <a:rPr lang="en-US" sz="1100" b="0" i="0" dirty="0">
                <a:solidFill>
                  <a:srgbClr val="556580"/>
                </a:solidFill>
                <a:latin typeface="Calibri"/>
              </a:rPr>
              <a:t>access control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,</a:t>
            </a:r>
            <a:r>
              <a:rPr lang="en-US" sz="1100" dirty="0">
                <a:solidFill>
                  <a:srgbClr val="556580"/>
                </a:solidFill>
                <a:latin typeface="Calibri"/>
              </a:rPr>
              <a:t> if lockout was enforced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, </a:t>
            </a:r>
            <a:r>
              <a:rPr lang="en-US" sz="1100" dirty="0">
                <a:solidFill>
                  <a:srgbClr val="556580"/>
                </a:solidFill>
                <a:latin typeface="Calibri"/>
              </a:rPr>
              <a:t>and if a 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bad input </a:t>
            </a:r>
            <a:r>
              <a:rPr lang="en-US" sz="1100" b="0" i="0" dirty="0">
                <a:solidFill>
                  <a:srgbClr val="556580"/>
                </a:solidFill>
                <a:latin typeface="Calibri"/>
              </a:rPr>
              <a:t>was </a:t>
            </a:r>
            <a:r>
              <a:rPr sz="1100" b="0" i="0" dirty="0">
                <a:solidFill>
                  <a:srgbClr val="556580"/>
                </a:solidFill>
                <a:latin typeface="Calibri"/>
              </a:rPr>
              <a:t>rejected.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480560"/>
            <a:ext cx="53949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4" name="Rectangle 33"/>
          <p:cNvSpPr/>
          <p:nvPr/>
        </p:nvSpPr>
        <p:spPr>
          <a:xfrm>
            <a:off x="6400800" y="4480560"/>
            <a:ext cx="5394960" cy="1417320"/>
          </a:xfrm>
          <a:prstGeom prst="rect">
            <a:avLst/>
          </a:prstGeom>
          <a:noFill/>
          <a:ln w="12700">
            <a:solidFill>
              <a:srgbClr val="CADC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5" name="Rectangle 34"/>
          <p:cNvSpPr/>
          <p:nvPr/>
        </p:nvSpPr>
        <p:spPr>
          <a:xfrm>
            <a:off x="6400800" y="4480560"/>
            <a:ext cx="64008" cy="141732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36" name="TextBox 35"/>
          <p:cNvSpPr txBox="1"/>
          <p:nvPr/>
        </p:nvSpPr>
        <p:spPr>
          <a:xfrm>
            <a:off x="6583680" y="4572000"/>
            <a:ext cx="51663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600" b="1" i="0" dirty="0">
                <a:solidFill>
                  <a:srgbClr val="1E2761"/>
                </a:solidFill>
                <a:latin typeface="Calibri"/>
              </a:rPr>
              <a:t>Keep secrets out of version control</a:t>
            </a:r>
            <a:endParaRPr sz="1600" b="1" i="0" dirty="0">
              <a:solidFill>
                <a:srgbClr val="1E2761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583680" y="4937760"/>
            <a:ext cx="516636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100" b="0" i="0" dirty="0">
                <a:solidFill>
                  <a:srgbClr val="556580"/>
                </a:solidFill>
                <a:latin typeface="Calibri"/>
              </a:rPr>
              <a:t>For deployment, we kept encryption keys and TLS certs in the repository, but that is a huge risk for real development.</a:t>
            </a:r>
            <a:endParaRPr sz="1100" b="0" i="0" dirty="0">
              <a:solidFill>
                <a:srgbClr val="55658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194560"/>
            <a:ext cx="12188952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88952" cy="54864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CADCFC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33272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FFFFF"/>
                </a:solidFill>
                <a:latin typeface="Calibri"/>
              </a:rPr>
              <a:t>We built a secure document sharing system that demonstrates production-grade security practices across every layer</a:t>
            </a: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.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US" sz="1400" b="0" i="0" dirty="0">
                <a:solidFill>
                  <a:srgbClr val="FFFFFF"/>
                </a:solidFill>
                <a:latin typeface="Calibri"/>
              </a:rPr>
              <a:t>It includes </a:t>
            </a:r>
            <a:r>
              <a:rPr sz="1400" b="0" i="0" dirty="0" err="1">
                <a:solidFill>
                  <a:srgbClr val="FFFFFF"/>
                </a:solidFill>
                <a:latin typeface="Calibri"/>
              </a:rPr>
              <a:t>bcrypt</a:t>
            </a:r>
            <a:r>
              <a:rPr sz="1400" b="0" i="0" dirty="0">
                <a:solidFill>
                  <a:srgbClr val="FFFFFF"/>
                </a:solidFill>
                <a:latin typeface="Calibri"/>
              </a:rPr>
              <a:t> password hashing and Fernet encryption at rest, to strict RBAC, input validation, session security, and structured audit logging.
Penetration testing confirmed no critical, high, or medium vulnerabilities. The two low-severity findings identified are known and have clear remediation paths.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0" y="4864608"/>
            <a:ext cx="73152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0" y="4754880"/>
            <a:ext cx="6858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ADCFC"/>
                </a:solidFill>
                <a:latin typeface="Calibri"/>
              </a:rPr>
              <a:t>Security is built in layers</a:t>
            </a:r>
            <a:r>
              <a:rPr lang="en-US" sz="1200" b="0" i="0" dirty="0">
                <a:solidFill>
                  <a:srgbClr val="CADCFC"/>
                </a:solidFill>
                <a:latin typeface="Calibri"/>
              </a:rPr>
              <a:t>, </a:t>
            </a:r>
            <a:r>
              <a:rPr sz="1200" b="0" i="0" dirty="0">
                <a:solidFill>
                  <a:srgbClr val="CADCFC"/>
                </a:solidFill>
                <a:latin typeface="Calibri"/>
              </a:rPr>
              <a:t>no single </a:t>
            </a:r>
            <a:r>
              <a:rPr lang="en-US" sz="1200" b="0" i="0" dirty="0">
                <a:solidFill>
                  <a:srgbClr val="CADCFC"/>
                </a:solidFill>
                <a:latin typeface="Calibri"/>
              </a:rPr>
              <a:t>protection </a:t>
            </a:r>
            <a:r>
              <a:rPr sz="1200" b="0" i="0" dirty="0">
                <a:solidFill>
                  <a:srgbClr val="CADCFC"/>
                </a:solidFill>
                <a:latin typeface="Calibri"/>
              </a:rPr>
              <a:t>is sufficient</a:t>
            </a:r>
            <a:r>
              <a:rPr lang="en-US" sz="1200" b="0" i="0" dirty="0">
                <a:solidFill>
                  <a:srgbClr val="CADCFC"/>
                </a:solidFill>
                <a:latin typeface="Calibri"/>
              </a:rPr>
              <a:t>, you need multiple</a:t>
            </a:r>
            <a:endParaRPr sz="1200" b="0" i="0" dirty="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0" y="5212080"/>
            <a:ext cx="73152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200" y="5102352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ADCFC"/>
                </a:solidFill>
                <a:latin typeface="Calibri"/>
              </a:rPr>
              <a:t>Test what shouldn't work as rigorously as what should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60320" y="5559552"/>
            <a:ext cx="73152" cy="164592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43200" y="5449824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CADCFC"/>
                </a:solidFill>
                <a:latin typeface="Calibri"/>
              </a:rPr>
              <a:t>Encryption + key management is stronger than secure deletion alone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651</Words>
  <Application>Microsoft Office PowerPoint</Application>
  <PresentationFormat>Custom</PresentationFormat>
  <Paragraphs>100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Ayan Ashraf</cp:lastModifiedBy>
  <cp:revision>14</cp:revision>
  <dcterms:created xsi:type="dcterms:W3CDTF">2013-01-27T09:14:16Z</dcterms:created>
  <dcterms:modified xsi:type="dcterms:W3CDTF">2026-04-20T02:03:14Z</dcterms:modified>
  <cp:category/>
</cp:coreProperties>
</file>