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2286000"/>
            <a:ext cx="12188952" cy="2560320"/>
          </a:xfrm>
          <a:prstGeom prst="rect">
            <a:avLst/>
          </a:prstGeom>
          <a:solidFill>
            <a:srgbClr val="161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12188952"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791456"/>
            <a:ext cx="12188952"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14600"/>
            <a:ext cx="11247120" cy="1005840"/>
          </a:xfrm>
          <a:prstGeom prst="rect">
            <a:avLst/>
          </a:prstGeom>
          <a:noFill/>
        </p:spPr>
        <p:txBody>
          <a:bodyPr wrap="square">
            <a:spAutoFit/>
          </a:bodyPr>
          <a:lstStyle/>
          <a:p>
            <a:pPr algn="ctr"/>
            <a:r>
              <a:rPr sz="4000" b="1" i="0">
                <a:solidFill>
                  <a:srgbClr val="FFFFFF"/>
                </a:solidFill>
                <a:latin typeface="Calibri"/>
              </a:rPr>
              <a:t>Secure Document Sharing System</a:t>
            </a:r>
          </a:p>
        </p:txBody>
      </p:sp>
      <p:sp>
        <p:nvSpPr>
          <p:cNvPr id="6" name="TextBox 5"/>
          <p:cNvSpPr txBox="1"/>
          <p:nvPr/>
        </p:nvSpPr>
        <p:spPr>
          <a:xfrm>
            <a:off x="457200" y="3520440"/>
            <a:ext cx="11247120" cy="548640"/>
          </a:xfrm>
          <a:prstGeom prst="rect">
            <a:avLst/>
          </a:prstGeom>
          <a:noFill/>
        </p:spPr>
        <p:txBody>
          <a:bodyPr wrap="square">
            <a:spAutoFit/>
          </a:bodyPr>
          <a:lstStyle/>
          <a:p>
            <a:pPr algn="ctr"/>
            <a:r>
              <a:rPr sz="2000" b="0" i="0">
                <a:solidFill>
                  <a:srgbClr val="CADCFC"/>
                </a:solidFill>
                <a:latin typeface="Calibri"/>
              </a:rPr>
              <a:t>CS 419  —  Spring 2026</a:t>
            </a:r>
          </a:p>
        </p:txBody>
      </p:sp>
      <p:sp>
        <p:nvSpPr>
          <p:cNvPr id="7" name="TextBox 6"/>
          <p:cNvSpPr txBox="1"/>
          <p:nvPr/>
        </p:nvSpPr>
        <p:spPr>
          <a:xfrm>
            <a:off x="457200" y="1188720"/>
            <a:ext cx="11247120" cy="548640"/>
          </a:xfrm>
          <a:prstGeom prst="rect">
            <a:avLst/>
          </a:prstGeom>
          <a:noFill/>
        </p:spPr>
        <p:txBody>
          <a:bodyPr wrap="square">
            <a:spAutoFit/>
          </a:bodyPr>
          <a:lstStyle/>
          <a:p>
            <a:pPr algn="ctr"/>
            <a:r>
              <a:rPr sz="1600" b="0" i="1">
                <a:solidFill>
                  <a:srgbClr val="CADCFC"/>
                </a:solidFill>
                <a:latin typeface="Calibri"/>
              </a:rPr>
              <a:t>Security Engineering Course Project</a:t>
            </a:r>
          </a:p>
        </p:txBody>
      </p:sp>
      <p:sp>
        <p:nvSpPr>
          <p:cNvPr id="8" name="TextBox 7"/>
          <p:cNvSpPr txBox="1"/>
          <p:nvPr/>
        </p:nvSpPr>
        <p:spPr>
          <a:xfrm>
            <a:off x="457200" y="5669280"/>
            <a:ext cx="11247120" cy="548640"/>
          </a:xfrm>
          <a:prstGeom prst="rect">
            <a:avLst/>
          </a:prstGeom>
          <a:noFill/>
        </p:spPr>
        <p:txBody>
          <a:bodyPr wrap="square">
            <a:spAutoFit/>
          </a:bodyPr>
          <a:lstStyle/>
          <a:p>
            <a:pPr algn="ctr"/>
            <a:r>
              <a:rPr sz="1300" b="0" i="0">
                <a:solidFill>
                  <a:srgbClr val="8AA8E8"/>
                </a:solidFill>
                <a:latin typeface="Calibri"/>
              </a:rPr>
              <a:t>Flask  •  Fernet Encryption  •  RBAC  •  TLS  •  Audit Logging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F"/>
        </a:solidFill>
        <a:effectLst/>
      </p:bgPr>
    </p:bg>
    <p:spTree>
      <p:nvGrpSpPr>
        <p:cNvPr id="1" name=""/>
        <p:cNvGrpSpPr/>
        <p:nvPr/>
      </p:nvGrpSpPr>
      <p:grpSpPr/>
      <p:sp>
        <p:nvSpPr>
          <p:cNvPr id="2" name="Rectangle 1"/>
          <p:cNvSpPr/>
          <p:nvPr/>
        </p:nvSpPr>
        <p:spPr>
          <a:xfrm>
            <a:off x="0" y="0"/>
            <a:ext cx="12188952" cy="7772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594360"/>
          </a:xfrm>
          <a:prstGeom prst="rect">
            <a:avLst/>
          </a:prstGeom>
          <a:noFill/>
        </p:spPr>
        <p:txBody>
          <a:bodyPr wrap="square">
            <a:spAutoFit/>
          </a:bodyPr>
          <a:lstStyle/>
          <a:p>
            <a:pPr algn="l"/>
            <a:r>
              <a:rPr sz="2600" b="1" i="0">
                <a:solidFill>
                  <a:srgbClr val="FFFFFF"/>
                </a:solidFill>
                <a:latin typeface="Calibri"/>
              </a:rPr>
              <a:t>Project Overview</a:t>
            </a:r>
          </a:p>
        </p:txBody>
      </p:sp>
      <p:sp>
        <p:nvSpPr>
          <p:cNvPr id="4" name="TextBox 3"/>
          <p:cNvSpPr txBox="1"/>
          <p:nvPr/>
        </p:nvSpPr>
        <p:spPr>
          <a:xfrm>
            <a:off x="365760" y="1005840"/>
            <a:ext cx="5486400" cy="457200"/>
          </a:xfrm>
          <a:prstGeom prst="rect">
            <a:avLst/>
          </a:prstGeom>
          <a:noFill/>
        </p:spPr>
        <p:txBody>
          <a:bodyPr wrap="square">
            <a:spAutoFit/>
          </a:bodyPr>
          <a:lstStyle/>
          <a:p>
            <a:pPr algn="l"/>
            <a:r>
              <a:rPr sz="1600" b="1" i="0">
                <a:solidFill>
                  <a:srgbClr val="1E2761"/>
                </a:solidFill>
                <a:latin typeface="Calibri"/>
              </a:rPr>
              <a:t>What we built</a:t>
            </a:r>
          </a:p>
        </p:txBody>
      </p:sp>
      <p:sp>
        <p:nvSpPr>
          <p:cNvPr id="5" name="TextBox 4"/>
          <p:cNvSpPr txBox="1"/>
          <p:nvPr/>
        </p:nvSpPr>
        <p:spPr>
          <a:xfrm>
            <a:off x="365760" y="1463040"/>
            <a:ext cx="5303520" cy="914400"/>
          </a:xfrm>
          <a:prstGeom prst="rect">
            <a:avLst/>
          </a:prstGeom>
          <a:noFill/>
        </p:spPr>
        <p:txBody>
          <a:bodyPr wrap="square">
            <a:spAutoFit/>
          </a:bodyPr>
          <a:lstStyle/>
          <a:p>
            <a:pPr algn="l"/>
            <a:r>
              <a:rPr sz="1200" b="0" i="0">
                <a:solidFill>
                  <a:srgbClr val="556580"/>
                </a:solidFill>
                <a:latin typeface="Calibri"/>
              </a:rPr>
              <a:t>A web application that lets users securely upload, store, share, and manage documents — built with security as a first principle, not an afterthought.</a:t>
            </a:r>
          </a:p>
        </p:txBody>
      </p:sp>
      <p:sp>
        <p:nvSpPr>
          <p:cNvPr id="6" name="TextBox 5"/>
          <p:cNvSpPr txBox="1"/>
          <p:nvPr/>
        </p:nvSpPr>
        <p:spPr>
          <a:xfrm>
            <a:off x="365760" y="2514600"/>
            <a:ext cx="5486400" cy="365760"/>
          </a:xfrm>
          <a:prstGeom prst="rect">
            <a:avLst/>
          </a:prstGeom>
          <a:noFill/>
        </p:spPr>
        <p:txBody>
          <a:bodyPr wrap="square">
            <a:spAutoFit/>
          </a:bodyPr>
          <a:lstStyle/>
          <a:p>
            <a:pPr algn="l"/>
            <a:r>
              <a:rPr sz="1400" b="1" i="0">
                <a:solidFill>
                  <a:srgbClr val="1E2761"/>
                </a:solidFill>
                <a:latin typeface="Calibri"/>
              </a:rPr>
              <a:t>Core capabilities</a:t>
            </a:r>
          </a:p>
        </p:txBody>
      </p:sp>
      <p:sp>
        <p:nvSpPr>
          <p:cNvPr id="7" name="Rectangle 6"/>
          <p:cNvSpPr/>
          <p:nvPr/>
        </p:nvSpPr>
        <p:spPr>
          <a:xfrm>
            <a:off x="365760" y="3035808"/>
            <a:ext cx="54864"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 y="2926080"/>
            <a:ext cx="5212080" cy="347472"/>
          </a:xfrm>
          <a:prstGeom prst="rect">
            <a:avLst/>
          </a:prstGeom>
          <a:noFill/>
        </p:spPr>
        <p:txBody>
          <a:bodyPr wrap="square">
            <a:spAutoFit/>
          </a:bodyPr>
          <a:lstStyle/>
          <a:p>
            <a:pPr algn="l"/>
            <a:r>
              <a:rPr sz="1150" b="0" i="0">
                <a:solidFill>
                  <a:srgbClr val="1E2761"/>
                </a:solidFill>
                <a:latin typeface="Calibri"/>
              </a:rPr>
              <a:t>Role-based access control  (Admin / User / Guest)</a:t>
            </a:r>
          </a:p>
        </p:txBody>
      </p:sp>
      <p:sp>
        <p:nvSpPr>
          <p:cNvPr id="9" name="Rectangle 8"/>
          <p:cNvSpPr/>
          <p:nvPr/>
        </p:nvSpPr>
        <p:spPr>
          <a:xfrm>
            <a:off x="365760" y="3383280"/>
            <a:ext cx="54864"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 y="3273552"/>
            <a:ext cx="5212080" cy="347472"/>
          </a:xfrm>
          <a:prstGeom prst="rect">
            <a:avLst/>
          </a:prstGeom>
          <a:noFill/>
        </p:spPr>
        <p:txBody>
          <a:bodyPr wrap="square">
            <a:spAutoFit/>
          </a:bodyPr>
          <a:lstStyle/>
          <a:p>
            <a:pPr algn="l"/>
            <a:r>
              <a:rPr sz="1150" b="0" i="0">
                <a:solidFill>
                  <a:srgbClr val="1E2761"/>
                </a:solidFill>
                <a:latin typeface="Calibri"/>
              </a:rPr>
              <a:t>End-to-end encryption at rest with Fernet (AES-128-CBC)</a:t>
            </a:r>
          </a:p>
        </p:txBody>
      </p:sp>
      <p:sp>
        <p:nvSpPr>
          <p:cNvPr id="11" name="Rectangle 10"/>
          <p:cNvSpPr/>
          <p:nvPr/>
        </p:nvSpPr>
        <p:spPr>
          <a:xfrm>
            <a:off x="365760" y="3730752"/>
            <a:ext cx="54864"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 y="3621024"/>
            <a:ext cx="5212080" cy="347472"/>
          </a:xfrm>
          <a:prstGeom prst="rect">
            <a:avLst/>
          </a:prstGeom>
          <a:noFill/>
        </p:spPr>
        <p:txBody>
          <a:bodyPr wrap="square">
            <a:spAutoFit/>
          </a:bodyPr>
          <a:lstStyle/>
          <a:p>
            <a:pPr algn="l"/>
            <a:r>
              <a:rPr sz="1150" b="0" i="0">
                <a:solidFill>
                  <a:srgbClr val="1E2761"/>
                </a:solidFill>
                <a:latin typeface="Calibri"/>
              </a:rPr>
              <a:t>Document versioning and restore</a:t>
            </a:r>
          </a:p>
        </p:txBody>
      </p:sp>
      <p:sp>
        <p:nvSpPr>
          <p:cNvPr id="13" name="Rectangle 12"/>
          <p:cNvSpPr/>
          <p:nvPr/>
        </p:nvSpPr>
        <p:spPr>
          <a:xfrm>
            <a:off x="365760" y="4078224"/>
            <a:ext cx="54864"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 y="3968496"/>
            <a:ext cx="5212080" cy="347472"/>
          </a:xfrm>
          <a:prstGeom prst="rect">
            <a:avLst/>
          </a:prstGeom>
          <a:noFill/>
        </p:spPr>
        <p:txBody>
          <a:bodyPr wrap="square">
            <a:spAutoFit/>
          </a:bodyPr>
          <a:lstStyle/>
          <a:p>
            <a:pPr algn="l"/>
            <a:r>
              <a:rPr sz="1150" b="0" i="0">
                <a:solidFill>
                  <a:srgbClr val="1E2761"/>
                </a:solidFill>
                <a:latin typeface="Calibri"/>
              </a:rPr>
              <a:t>Secure sharing with Editor / Viewer permissions</a:t>
            </a:r>
          </a:p>
        </p:txBody>
      </p:sp>
      <p:sp>
        <p:nvSpPr>
          <p:cNvPr id="15" name="Rectangle 14"/>
          <p:cNvSpPr/>
          <p:nvPr/>
        </p:nvSpPr>
        <p:spPr>
          <a:xfrm>
            <a:off x="365760" y="4425696"/>
            <a:ext cx="54864"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 y="4315968"/>
            <a:ext cx="5212080" cy="347472"/>
          </a:xfrm>
          <a:prstGeom prst="rect">
            <a:avLst/>
          </a:prstGeom>
          <a:noFill/>
        </p:spPr>
        <p:txBody>
          <a:bodyPr wrap="square">
            <a:spAutoFit/>
          </a:bodyPr>
          <a:lstStyle/>
          <a:p>
            <a:pPr algn="l"/>
            <a:r>
              <a:rPr sz="1150" b="0" i="0">
                <a:solidFill>
                  <a:srgbClr val="1E2761"/>
                </a:solidFill>
                <a:latin typeface="Calibri"/>
              </a:rPr>
              <a:t>Full audit trail across two structured log files</a:t>
            </a:r>
          </a:p>
        </p:txBody>
      </p:sp>
      <p:sp>
        <p:nvSpPr>
          <p:cNvPr id="17" name="Rectangle 16"/>
          <p:cNvSpPr/>
          <p:nvPr/>
        </p:nvSpPr>
        <p:spPr>
          <a:xfrm>
            <a:off x="6583680" y="1005840"/>
            <a:ext cx="23774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0" y="1005840"/>
            <a:ext cx="2377440" cy="123444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0" y="1097280"/>
            <a:ext cx="2194560" cy="640080"/>
          </a:xfrm>
          <a:prstGeom prst="rect">
            <a:avLst/>
          </a:prstGeom>
          <a:noFill/>
        </p:spPr>
        <p:txBody>
          <a:bodyPr wrap="square">
            <a:spAutoFit/>
          </a:bodyPr>
          <a:lstStyle/>
          <a:p>
            <a:pPr algn="ctr"/>
            <a:r>
              <a:rPr sz="3200" b="1" i="0">
                <a:solidFill>
                  <a:srgbClr val="4A90D9"/>
                </a:solidFill>
                <a:latin typeface="Calibri"/>
              </a:rPr>
              <a:t>3</a:t>
            </a:r>
          </a:p>
        </p:txBody>
      </p:sp>
      <p:sp>
        <p:nvSpPr>
          <p:cNvPr id="20" name="TextBox 19"/>
          <p:cNvSpPr txBox="1"/>
          <p:nvPr/>
        </p:nvSpPr>
        <p:spPr>
          <a:xfrm>
            <a:off x="6675120" y="1691640"/>
            <a:ext cx="2194560" cy="411480"/>
          </a:xfrm>
          <a:prstGeom prst="rect">
            <a:avLst/>
          </a:prstGeom>
          <a:noFill/>
        </p:spPr>
        <p:txBody>
          <a:bodyPr wrap="square">
            <a:spAutoFit/>
          </a:bodyPr>
          <a:lstStyle/>
          <a:p>
            <a:pPr algn="ctr"/>
            <a:r>
              <a:rPr sz="1100" b="0" i="0">
                <a:solidFill>
                  <a:srgbClr val="556580"/>
                </a:solidFill>
                <a:latin typeface="Calibri"/>
              </a:rPr>
              <a:t>User Roles</a:t>
            </a:r>
          </a:p>
        </p:txBody>
      </p:sp>
      <p:sp>
        <p:nvSpPr>
          <p:cNvPr id="21" name="Rectangle 20"/>
          <p:cNvSpPr/>
          <p:nvPr/>
        </p:nvSpPr>
        <p:spPr>
          <a:xfrm>
            <a:off x="9235440" y="1005840"/>
            <a:ext cx="23774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35440" y="1005840"/>
            <a:ext cx="2377440" cy="123444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0" y="1097280"/>
            <a:ext cx="2194560" cy="640080"/>
          </a:xfrm>
          <a:prstGeom prst="rect">
            <a:avLst/>
          </a:prstGeom>
          <a:noFill/>
        </p:spPr>
        <p:txBody>
          <a:bodyPr wrap="square">
            <a:spAutoFit/>
          </a:bodyPr>
          <a:lstStyle/>
          <a:p>
            <a:pPr algn="ctr"/>
            <a:r>
              <a:rPr sz="3200" b="1" i="0">
                <a:solidFill>
                  <a:srgbClr val="4A90D9"/>
                </a:solidFill>
                <a:latin typeface="Calibri"/>
              </a:rPr>
              <a:t>AES-128</a:t>
            </a:r>
          </a:p>
        </p:txBody>
      </p:sp>
      <p:sp>
        <p:nvSpPr>
          <p:cNvPr id="24" name="TextBox 23"/>
          <p:cNvSpPr txBox="1"/>
          <p:nvPr/>
        </p:nvSpPr>
        <p:spPr>
          <a:xfrm>
            <a:off x="9326880" y="1691640"/>
            <a:ext cx="2194560" cy="411480"/>
          </a:xfrm>
          <a:prstGeom prst="rect">
            <a:avLst/>
          </a:prstGeom>
          <a:noFill/>
        </p:spPr>
        <p:txBody>
          <a:bodyPr wrap="square">
            <a:spAutoFit/>
          </a:bodyPr>
          <a:lstStyle/>
          <a:p>
            <a:pPr algn="ctr"/>
            <a:r>
              <a:rPr sz="1100" b="0" i="0">
                <a:solidFill>
                  <a:srgbClr val="556580"/>
                </a:solidFill>
                <a:latin typeface="Calibri"/>
              </a:rPr>
              <a:t>Encryption</a:t>
            </a:r>
          </a:p>
        </p:txBody>
      </p:sp>
      <p:sp>
        <p:nvSpPr>
          <p:cNvPr id="25" name="Rectangle 24"/>
          <p:cNvSpPr/>
          <p:nvPr/>
        </p:nvSpPr>
        <p:spPr>
          <a:xfrm>
            <a:off x="6583680" y="2468880"/>
            <a:ext cx="23774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0" y="2468880"/>
            <a:ext cx="2377440" cy="123444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0" y="2560320"/>
            <a:ext cx="2194560" cy="640080"/>
          </a:xfrm>
          <a:prstGeom prst="rect">
            <a:avLst/>
          </a:prstGeom>
          <a:noFill/>
        </p:spPr>
        <p:txBody>
          <a:bodyPr wrap="square">
            <a:spAutoFit/>
          </a:bodyPr>
          <a:lstStyle/>
          <a:p>
            <a:pPr algn="ctr"/>
            <a:r>
              <a:rPr sz="3200" b="1" i="0">
                <a:solidFill>
                  <a:srgbClr val="4A90D9"/>
                </a:solidFill>
                <a:latin typeface="Calibri"/>
              </a:rPr>
              <a:t>7</a:t>
            </a:r>
          </a:p>
        </p:txBody>
      </p:sp>
      <p:sp>
        <p:nvSpPr>
          <p:cNvPr id="28" name="TextBox 27"/>
          <p:cNvSpPr txBox="1"/>
          <p:nvPr/>
        </p:nvSpPr>
        <p:spPr>
          <a:xfrm>
            <a:off x="6675120" y="3154680"/>
            <a:ext cx="2194560" cy="411480"/>
          </a:xfrm>
          <a:prstGeom prst="rect">
            <a:avLst/>
          </a:prstGeom>
          <a:noFill/>
        </p:spPr>
        <p:txBody>
          <a:bodyPr wrap="square">
            <a:spAutoFit/>
          </a:bodyPr>
          <a:lstStyle/>
          <a:p>
            <a:pPr algn="ctr"/>
            <a:r>
              <a:rPr sz="1100" b="0" i="0">
                <a:solidFill>
                  <a:srgbClr val="556580"/>
                </a:solidFill>
                <a:latin typeface="Calibri"/>
              </a:rPr>
              <a:t>Security Headers</a:t>
            </a:r>
          </a:p>
        </p:txBody>
      </p:sp>
      <p:sp>
        <p:nvSpPr>
          <p:cNvPr id="29" name="Rectangle 28"/>
          <p:cNvSpPr/>
          <p:nvPr/>
        </p:nvSpPr>
        <p:spPr>
          <a:xfrm>
            <a:off x="9235440" y="2468880"/>
            <a:ext cx="23774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235440" y="2468880"/>
            <a:ext cx="2377440" cy="123444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80" y="2560320"/>
            <a:ext cx="2194560" cy="640080"/>
          </a:xfrm>
          <a:prstGeom prst="rect">
            <a:avLst/>
          </a:prstGeom>
          <a:noFill/>
        </p:spPr>
        <p:txBody>
          <a:bodyPr wrap="square">
            <a:spAutoFit/>
          </a:bodyPr>
          <a:lstStyle/>
          <a:p>
            <a:pPr algn="ctr"/>
            <a:r>
              <a:rPr sz="3200" b="1" i="0">
                <a:solidFill>
                  <a:srgbClr val="4A90D9"/>
                </a:solidFill>
                <a:latin typeface="Calibri"/>
              </a:rPr>
              <a:t>130+</a:t>
            </a:r>
          </a:p>
        </p:txBody>
      </p:sp>
      <p:sp>
        <p:nvSpPr>
          <p:cNvPr id="32" name="TextBox 31"/>
          <p:cNvSpPr txBox="1"/>
          <p:nvPr/>
        </p:nvSpPr>
        <p:spPr>
          <a:xfrm>
            <a:off x="9326880" y="3154680"/>
            <a:ext cx="2194560" cy="411480"/>
          </a:xfrm>
          <a:prstGeom prst="rect">
            <a:avLst/>
          </a:prstGeom>
          <a:noFill/>
        </p:spPr>
        <p:txBody>
          <a:bodyPr wrap="square">
            <a:spAutoFit/>
          </a:bodyPr>
          <a:lstStyle/>
          <a:p>
            <a:pPr algn="ctr"/>
            <a:r>
              <a:rPr sz="1100" b="0" i="0">
                <a:solidFill>
                  <a:srgbClr val="556580"/>
                </a:solidFill>
                <a:latin typeface="Calibri"/>
              </a:rPr>
              <a:t>Automated Tests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F"/>
        </a:solidFill>
        <a:effectLst/>
      </p:bgPr>
    </p:bg>
    <p:spTree>
      <p:nvGrpSpPr>
        <p:cNvPr id="1" name=""/>
        <p:cNvGrpSpPr/>
        <p:nvPr/>
      </p:nvGrpSpPr>
      <p:grpSpPr/>
      <p:sp>
        <p:nvSpPr>
          <p:cNvPr id="2" name="Rectangle 1"/>
          <p:cNvSpPr/>
          <p:nvPr/>
        </p:nvSpPr>
        <p:spPr>
          <a:xfrm>
            <a:off x="0" y="0"/>
            <a:ext cx="12188952" cy="7772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594360"/>
          </a:xfrm>
          <a:prstGeom prst="rect">
            <a:avLst/>
          </a:prstGeom>
          <a:noFill/>
        </p:spPr>
        <p:txBody>
          <a:bodyPr wrap="square">
            <a:spAutoFit/>
          </a:bodyPr>
          <a:lstStyle/>
          <a:p>
            <a:pPr algn="l"/>
            <a:r>
              <a:rPr sz="2600" b="1" i="0">
                <a:solidFill>
                  <a:srgbClr val="FFFFFF"/>
                </a:solidFill>
                <a:latin typeface="Calibri"/>
              </a:rPr>
              <a:t>Security Architecture</a:t>
            </a:r>
          </a:p>
        </p:txBody>
      </p:sp>
      <p:sp>
        <p:nvSpPr>
          <p:cNvPr id="4" name="Rectangle 3"/>
          <p:cNvSpPr/>
          <p:nvPr/>
        </p:nvSpPr>
        <p:spPr>
          <a:xfrm>
            <a:off x="1316735" y="1371600"/>
            <a:ext cx="2011680" cy="1188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16735" y="1463040"/>
            <a:ext cx="2011680" cy="457200"/>
          </a:xfrm>
          <a:prstGeom prst="rect">
            <a:avLst/>
          </a:prstGeom>
          <a:noFill/>
        </p:spPr>
        <p:txBody>
          <a:bodyPr wrap="square">
            <a:spAutoFit/>
          </a:bodyPr>
          <a:lstStyle/>
          <a:p>
            <a:pPr algn="ctr"/>
            <a:r>
              <a:rPr sz="1300" b="1" i="0">
                <a:solidFill>
                  <a:srgbClr val="FFFFFF"/>
                </a:solidFill>
                <a:latin typeface="Calibri"/>
              </a:rPr>
              <a:t>Browser</a:t>
            </a:r>
          </a:p>
        </p:txBody>
      </p:sp>
      <p:sp>
        <p:nvSpPr>
          <p:cNvPr id="6" name="TextBox 5"/>
          <p:cNvSpPr txBox="1"/>
          <p:nvPr/>
        </p:nvSpPr>
        <p:spPr>
          <a:xfrm>
            <a:off x="1316735" y="1920240"/>
            <a:ext cx="2011680" cy="548640"/>
          </a:xfrm>
          <a:prstGeom prst="rect">
            <a:avLst/>
          </a:prstGeom>
          <a:noFill/>
        </p:spPr>
        <p:txBody>
          <a:bodyPr wrap="square">
            <a:spAutoFit/>
          </a:bodyPr>
          <a:lstStyle/>
          <a:p>
            <a:pPr algn="ctr"/>
            <a:r>
              <a:rPr sz="1000" b="0" i="0">
                <a:solidFill>
                  <a:srgbClr val="CADCFC"/>
                </a:solidFill>
                <a:latin typeface="Calibri"/>
              </a:rPr>
              <a:t>HTML5 / JS
User Interface</a:t>
            </a:r>
          </a:p>
        </p:txBody>
      </p:sp>
      <p:sp>
        <p:nvSpPr>
          <p:cNvPr id="7" name="Rectangle 6"/>
          <p:cNvSpPr/>
          <p:nvPr/>
        </p:nvSpPr>
        <p:spPr>
          <a:xfrm>
            <a:off x="3374135" y="1929384"/>
            <a:ext cx="411480" cy="73152"/>
          </a:xfrm>
          <a:prstGeom prst="rect">
            <a:avLst/>
          </a:prstGeom>
          <a:solidFill>
            <a:srgbClr val="556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831335" y="1371600"/>
            <a:ext cx="2011680" cy="11887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31335" y="1463040"/>
            <a:ext cx="2011680" cy="457200"/>
          </a:xfrm>
          <a:prstGeom prst="rect">
            <a:avLst/>
          </a:prstGeom>
          <a:noFill/>
        </p:spPr>
        <p:txBody>
          <a:bodyPr wrap="square">
            <a:spAutoFit/>
          </a:bodyPr>
          <a:lstStyle/>
          <a:p>
            <a:pPr algn="ctr"/>
            <a:r>
              <a:rPr sz="1300" b="1" i="0">
                <a:solidFill>
                  <a:srgbClr val="FFFFFF"/>
                </a:solidFill>
                <a:latin typeface="Calibri"/>
              </a:rPr>
              <a:t>TLS / HTTPS</a:t>
            </a:r>
          </a:p>
        </p:txBody>
      </p:sp>
      <p:sp>
        <p:nvSpPr>
          <p:cNvPr id="10" name="TextBox 9"/>
          <p:cNvSpPr txBox="1"/>
          <p:nvPr/>
        </p:nvSpPr>
        <p:spPr>
          <a:xfrm>
            <a:off x="3831335" y="1920240"/>
            <a:ext cx="2011680" cy="548640"/>
          </a:xfrm>
          <a:prstGeom prst="rect">
            <a:avLst/>
          </a:prstGeom>
          <a:noFill/>
        </p:spPr>
        <p:txBody>
          <a:bodyPr wrap="square">
            <a:spAutoFit/>
          </a:bodyPr>
          <a:lstStyle/>
          <a:p>
            <a:pPr algn="ctr"/>
            <a:r>
              <a:rPr sz="1000" b="0" i="0">
                <a:solidFill>
                  <a:srgbClr val="CADCFC"/>
                </a:solidFill>
                <a:latin typeface="Calibri"/>
              </a:rPr>
              <a:t>Self-signed cert
Port 5000</a:t>
            </a:r>
          </a:p>
        </p:txBody>
      </p:sp>
      <p:sp>
        <p:nvSpPr>
          <p:cNvPr id="11" name="Rectangle 10"/>
          <p:cNvSpPr/>
          <p:nvPr/>
        </p:nvSpPr>
        <p:spPr>
          <a:xfrm>
            <a:off x="5888736" y="1929384"/>
            <a:ext cx="411480" cy="73152"/>
          </a:xfrm>
          <a:prstGeom prst="rect">
            <a:avLst/>
          </a:prstGeom>
          <a:solidFill>
            <a:srgbClr val="556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45936" y="1371600"/>
            <a:ext cx="2011680" cy="11887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5936" y="1463040"/>
            <a:ext cx="2011680" cy="457200"/>
          </a:xfrm>
          <a:prstGeom prst="rect">
            <a:avLst/>
          </a:prstGeom>
          <a:noFill/>
        </p:spPr>
        <p:txBody>
          <a:bodyPr wrap="square">
            <a:spAutoFit/>
          </a:bodyPr>
          <a:lstStyle/>
          <a:p>
            <a:pPr algn="ctr"/>
            <a:r>
              <a:rPr sz="1300" b="1" i="0">
                <a:solidFill>
                  <a:srgbClr val="FFFFFF"/>
                </a:solidFill>
                <a:latin typeface="Calibri"/>
              </a:rPr>
              <a:t>Flask App</a:t>
            </a:r>
          </a:p>
        </p:txBody>
      </p:sp>
      <p:sp>
        <p:nvSpPr>
          <p:cNvPr id="14" name="TextBox 13"/>
          <p:cNvSpPr txBox="1"/>
          <p:nvPr/>
        </p:nvSpPr>
        <p:spPr>
          <a:xfrm>
            <a:off x="6345936" y="1920240"/>
            <a:ext cx="2011680" cy="548640"/>
          </a:xfrm>
          <a:prstGeom prst="rect">
            <a:avLst/>
          </a:prstGeom>
          <a:noFill/>
        </p:spPr>
        <p:txBody>
          <a:bodyPr wrap="square">
            <a:spAutoFit/>
          </a:bodyPr>
          <a:lstStyle/>
          <a:p>
            <a:pPr algn="ctr"/>
            <a:r>
              <a:rPr sz="1000" b="0" i="0">
                <a:solidFill>
                  <a:srgbClr val="CADCFC"/>
                </a:solidFill>
                <a:latin typeface="Calibri"/>
              </a:rPr>
              <a:t>Routes · Auth
RBAC · Validation</a:t>
            </a:r>
          </a:p>
        </p:txBody>
      </p:sp>
      <p:sp>
        <p:nvSpPr>
          <p:cNvPr id="15" name="Rectangle 14"/>
          <p:cNvSpPr/>
          <p:nvPr/>
        </p:nvSpPr>
        <p:spPr>
          <a:xfrm>
            <a:off x="8403336" y="1929384"/>
            <a:ext cx="411480" cy="73152"/>
          </a:xfrm>
          <a:prstGeom prst="rect">
            <a:avLst/>
          </a:prstGeom>
          <a:solidFill>
            <a:srgbClr val="556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60536" y="1371600"/>
            <a:ext cx="2011680" cy="1188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0536" y="1463040"/>
            <a:ext cx="2011680" cy="457200"/>
          </a:xfrm>
          <a:prstGeom prst="rect">
            <a:avLst/>
          </a:prstGeom>
          <a:noFill/>
        </p:spPr>
        <p:txBody>
          <a:bodyPr wrap="square">
            <a:spAutoFit/>
          </a:bodyPr>
          <a:lstStyle/>
          <a:p>
            <a:pPr algn="ctr"/>
            <a:r>
              <a:rPr sz="1300" b="1" i="0">
                <a:solidFill>
                  <a:srgbClr val="FFFFFF"/>
                </a:solidFill>
                <a:latin typeface="Calibri"/>
              </a:rPr>
              <a:t>Encrypted Store</a:t>
            </a:r>
          </a:p>
        </p:txBody>
      </p:sp>
      <p:sp>
        <p:nvSpPr>
          <p:cNvPr id="18" name="TextBox 17"/>
          <p:cNvSpPr txBox="1"/>
          <p:nvPr/>
        </p:nvSpPr>
        <p:spPr>
          <a:xfrm>
            <a:off x="8860536" y="1920240"/>
            <a:ext cx="2011680" cy="548640"/>
          </a:xfrm>
          <a:prstGeom prst="rect">
            <a:avLst/>
          </a:prstGeom>
          <a:noFill/>
        </p:spPr>
        <p:txBody>
          <a:bodyPr wrap="square">
            <a:spAutoFit/>
          </a:bodyPr>
          <a:lstStyle/>
          <a:p>
            <a:pPr algn="ctr"/>
            <a:r>
              <a:rPr sz="1000" b="0" i="0">
                <a:solidFill>
                  <a:srgbClr val="CADCFC"/>
                </a:solidFill>
                <a:latin typeface="Calibri"/>
              </a:rPr>
              <a:t>Fernet .enc files
JSON sessions</a:t>
            </a:r>
          </a:p>
        </p:txBody>
      </p:sp>
      <p:sp>
        <p:nvSpPr>
          <p:cNvPr id="19" name="TextBox 18"/>
          <p:cNvSpPr txBox="1"/>
          <p:nvPr/>
        </p:nvSpPr>
        <p:spPr>
          <a:xfrm>
            <a:off x="457200" y="2880360"/>
            <a:ext cx="11247120" cy="411480"/>
          </a:xfrm>
          <a:prstGeom prst="rect">
            <a:avLst/>
          </a:prstGeom>
          <a:noFill/>
        </p:spPr>
        <p:txBody>
          <a:bodyPr wrap="square">
            <a:spAutoFit/>
          </a:bodyPr>
          <a:lstStyle/>
          <a:p>
            <a:pPr algn="ctr"/>
            <a:r>
              <a:rPr sz="1400" b="1" i="0">
                <a:solidFill>
                  <a:srgbClr val="1E2761"/>
                </a:solidFill>
                <a:latin typeface="Calibri"/>
              </a:rPr>
              <a:t>Security Controls Applied at Each Layer</a:t>
            </a:r>
          </a:p>
        </p:txBody>
      </p:sp>
      <p:sp>
        <p:nvSpPr>
          <p:cNvPr id="20" name="Rectangle 19"/>
          <p:cNvSpPr/>
          <p:nvPr/>
        </p:nvSpPr>
        <p:spPr>
          <a:xfrm>
            <a:off x="320040" y="3383280"/>
            <a:ext cx="347472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0040" y="3383280"/>
            <a:ext cx="3474720" cy="109728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0040" y="3383280"/>
            <a:ext cx="3474720"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3493008"/>
            <a:ext cx="3291839" cy="320040"/>
          </a:xfrm>
          <a:prstGeom prst="rect">
            <a:avLst/>
          </a:prstGeom>
          <a:noFill/>
        </p:spPr>
        <p:txBody>
          <a:bodyPr wrap="square">
            <a:spAutoFit/>
          </a:bodyPr>
          <a:lstStyle/>
          <a:p>
            <a:pPr algn="l"/>
            <a:r>
              <a:rPr sz="1200" b="1" i="0">
                <a:solidFill>
                  <a:srgbClr val="1E2761"/>
                </a:solidFill>
                <a:latin typeface="Calibri"/>
              </a:rPr>
              <a:t>Authentication</a:t>
            </a:r>
          </a:p>
        </p:txBody>
      </p:sp>
      <p:sp>
        <p:nvSpPr>
          <p:cNvPr id="24" name="TextBox 23"/>
          <p:cNvSpPr txBox="1"/>
          <p:nvPr/>
        </p:nvSpPr>
        <p:spPr>
          <a:xfrm>
            <a:off x="457200" y="3822191"/>
            <a:ext cx="3291839" cy="548640"/>
          </a:xfrm>
          <a:prstGeom prst="rect">
            <a:avLst/>
          </a:prstGeom>
          <a:noFill/>
        </p:spPr>
        <p:txBody>
          <a:bodyPr wrap="square">
            <a:spAutoFit/>
          </a:bodyPr>
          <a:lstStyle/>
          <a:p>
            <a:pPr algn="l"/>
            <a:r>
              <a:rPr sz="1000" b="0" i="0">
                <a:solidFill>
                  <a:srgbClr val="556580"/>
                </a:solidFill>
                <a:latin typeface="Calibri"/>
              </a:rPr>
              <a:t>bcrypt · lockout · rate limiting</a:t>
            </a:r>
          </a:p>
        </p:txBody>
      </p:sp>
      <p:sp>
        <p:nvSpPr>
          <p:cNvPr id="25" name="Rectangle 24"/>
          <p:cNvSpPr/>
          <p:nvPr/>
        </p:nvSpPr>
        <p:spPr>
          <a:xfrm>
            <a:off x="4069079" y="3383280"/>
            <a:ext cx="347472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069079" y="3383280"/>
            <a:ext cx="3474720" cy="109728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069079" y="3383280"/>
            <a:ext cx="3474720"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06240" y="3493008"/>
            <a:ext cx="3291839" cy="320040"/>
          </a:xfrm>
          <a:prstGeom prst="rect">
            <a:avLst/>
          </a:prstGeom>
          <a:noFill/>
        </p:spPr>
        <p:txBody>
          <a:bodyPr wrap="square">
            <a:spAutoFit/>
          </a:bodyPr>
          <a:lstStyle/>
          <a:p>
            <a:pPr algn="l"/>
            <a:r>
              <a:rPr sz="1200" b="1" i="0">
                <a:solidFill>
                  <a:srgbClr val="1E2761"/>
                </a:solidFill>
                <a:latin typeface="Calibri"/>
              </a:rPr>
              <a:t>Authorization</a:t>
            </a:r>
          </a:p>
        </p:txBody>
      </p:sp>
      <p:sp>
        <p:nvSpPr>
          <p:cNvPr id="29" name="TextBox 28"/>
          <p:cNvSpPr txBox="1"/>
          <p:nvPr/>
        </p:nvSpPr>
        <p:spPr>
          <a:xfrm>
            <a:off x="4206240" y="3822191"/>
            <a:ext cx="3291839" cy="548640"/>
          </a:xfrm>
          <a:prstGeom prst="rect">
            <a:avLst/>
          </a:prstGeom>
          <a:noFill/>
        </p:spPr>
        <p:txBody>
          <a:bodyPr wrap="square">
            <a:spAutoFit/>
          </a:bodyPr>
          <a:lstStyle/>
          <a:p>
            <a:pPr algn="l"/>
            <a:r>
              <a:rPr sz="1000" b="0" i="0">
                <a:solidFill>
                  <a:srgbClr val="556580"/>
                </a:solidFill>
                <a:latin typeface="Calibri"/>
              </a:rPr>
              <a:t>RBAC decorators · ownership checks</a:t>
            </a:r>
          </a:p>
        </p:txBody>
      </p:sp>
      <p:sp>
        <p:nvSpPr>
          <p:cNvPr id="30" name="Rectangle 29"/>
          <p:cNvSpPr/>
          <p:nvPr/>
        </p:nvSpPr>
        <p:spPr>
          <a:xfrm>
            <a:off x="7818119" y="3383280"/>
            <a:ext cx="347472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818119" y="3383280"/>
            <a:ext cx="3474720" cy="109728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818119" y="3383280"/>
            <a:ext cx="3474720"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55279" y="3493008"/>
            <a:ext cx="3291839" cy="320040"/>
          </a:xfrm>
          <a:prstGeom prst="rect">
            <a:avLst/>
          </a:prstGeom>
          <a:noFill/>
        </p:spPr>
        <p:txBody>
          <a:bodyPr wrap="square">
            <a:spAutoFit/>
          </a:bodyPr>
          <a:lstStyle/>
          <a:p>
            <a:pPr algn="l"/>
            <a:r>
              <a:rPr sz="1200" b="1" i="0">
                <a:solidFill>
                  <a:srgbClr val="1E2761"/>
                </a:solidFill>
                <a:latin typeface="Calibri"/>
              </a:rPr>
              <a:t>Input Handling</a:t>
            </a:r>
          </a:p>
        </p:txBody>
      </p:sp>
      <p:sp>
        <p:nvSpPr>
          <p:cNvPr id="34" name="TextBox 33"/>
          <p:cNvSpPr txBox="1"/>
          <p:nvPr/>
        </p:nvSpPr>
        <p:spPr>
          <a:xfrm>
            <a:off x="7955279" y="3822191"/>
            <a:ext cx="3291839" cy="548640"/>
          </a:xfrm>
          <a:prstGeom prst="rect">
            <a:avLst/>
          </a:prstGeom>
          <a:noFill/>
        </p:spPr>
        <p:txBody>
          <a:bodyPr wrap="square">
            <a:spAutoFit/>
          </a:bodyPr>
          <a:lstStyle/>
          <a:p>
            <a:pPr algn="l"/>
            <a:r>
              <a:rPr sz="1000" b="0" i="0">
                <a:solidFill>
                  <a:srgbClr val="556580"/>
                </a:solidFill>
                <a:latin typeface="Calibri"/>
              </a:rPr>
              <a:t>Whitelist validation · path traversal prevention</a:t>
            </a:r>
          </a:p>
        </p:txBody>
      </p:sp>
      <p:sp>
        <p:nvSpPr>
          <p:cNvPr id="35" name="Rectangle 34"/>
          <p:cNvSpPr/>
          <p:nvPr/>
        </p:nvSpPr>
        <p:spPr>
          <a:xfrm>
            <a:off x="320040" y="4663440"/>
            <a:ext cx="347472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0040" y="4663440"/>
            <a:ext cx="3474720" cy="109728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20040" y="4663440"/>
            <a:ext cx="3474720"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4773168"/>
            <a:ext cx="3291839" cy="320040"/>
          </a:xfrm>
          <a:prstGeom prst="rect">
            <a:avLst/>
          </a:prstGeom>
          <a:noFill/>
        </p:spPr>
        <p:txBody>
          <a:bodyPr wrap="square">
            <a:spAutoFit/>
          </a:bodyPr>
          <a:lstStyle/>
          <a:p>
            <a:pPr algn="l"/>
            <a:r>
              <a:rPr sz="1200" b="1" i="0">
                <a:solidFill>
                  <a:srgbClr val="1E2761"/>
                </a:solidFill>
                <a:latin typeface="Calibri"/>
              </a:rPr>
              <a:t>Data Protection</a:t>
            </a:r>
          </a:p>
        </p:txBody>
      </p:sp>
      <p:sp>
        <p:nvSpPr>
          <p:cNvPr id="39" name="TextBox 38"/>
          <p:cNvSpPr txBox="1"/>
          <p:nvPr/>
        </p:nvSpPr>
        <p:spPr>
          <a:xfrm>
            <a:off x="457200" y="5102352"/>
            <a:ext cx="3291839" cy="548640"/>
          </a:xfrm>
          <a:prstGeom prst="rect">
            <a:avLst/>
          </a:prstGeom>
          <a:noFill/>
        </p:spPr>
        <p:txBody>
          <a:bodyPr wrap="square">
            <a:spAutoFit/>
          </a:bodyPr>
          <a:lstStyle/>
          <a:p>
            <a:pPr algn="l"/>
            <a:r>
              <a:rPr sz="1000" b="0" i="0">
                <a:solidFill>
                  <a:srgbClr val="556580"/>
                </a:solidFill>
                <a:latin typeface="Calibri"/>
              </a:rPr>
              <a:t>Fernet encryption · secure deletion</a:t>
            </a:r>
          </a:p>
        </p:txBody>
      </p:sp>
      <p:sp>
        <p:nvSpPr>
          <p:cNvPr id="40" name="Rectangle 39"/>
          <p:cNvSpPr/>
          <p:nvPr/>
        </p:nvSpPr>
        <p:spPr>
          <a:xfrm>
            <a:off x="4069079" y="4663440"/>
            <a:ext cx="347472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069079" y="4663440"/>
            <a:ext cx="3474720" cy="109728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069079" y="4663440"/>
            <a:ext cx="3474720"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206240" y="4773168"/>
            <a:ext cx="3291839" cy="320040"/>
          </a:xfrm>
          <a:prstGeom prst="rect">
            <a:avLst/>
          </a:prstGeom>
          <a:noFill/>
        </p:spPr>
        <p:txBody>
          <a:bodyPr wrap="square">
            <a:spAutoFit/>
          </a:bodyPr>
          <a:lstStyle/>
          <a:p>
            <a:pPr algn="l"/>
            <a:r>
              <a:rPr sz="1200" b="1" i="0">
                <a:solidFill>
                  <a:srgbClr val="1E2761"/>
                </a:solidFill>
                <a:latin typeface="Calibri"/>
              </a:rPr>
              <a:t>Transport</a:t>
            </a:r>
          </a:p>
        </p:txBody>
      </p:sp>
      <p:sp>
        <p:nvSpPr>
          <p:cNvPr id="44" name="TextBox 43"/>
          <p:cNvSpPr txBox="1"/>
          <p:nvPr/>
        </p:nvSpPr>
        <p:spPr>
          <a:xfrm>
            <a:off x="4206240" y="5102352"/>
            <a:ext cx="3291839" cy="548640"/>
          </a:xfrm>
          <a:prstGeom prst="rect">
            <a:avLst/>
          </a:prstGeom>
          <a:noFill/>
        </p:spPr>
        <p:txBody>
          <a:bodyPr wrap="square">
            <a:spAutoFit/>
          </a:bodyPr>
          <a:lstStyle/>
          <a:p>
            <a:pPr algn="l"/>
            <a:r>
              <a:rPr sz="1000" b="0" i="0">
                <a:solidFill>
                  <a:srgbClr val="556580"/>
                </a:solidFill>
                <a:latin typeface="Calibri"/>
              </a:rPr>
              <a:t>HTTPS redirect · HSTS · SameSite cookies</a:t>
            </a:r>
          </a:p>
        </p:txBody>
      </p:sp>
      <p:sp>
        <p:nvSpPr>
          <p:cNvPr id="45" name="Rectangle 44"/>
          <p:cNvSpPr/>
          <p:nvPr/>
        </p:nvSpPr>
        <p:spPr>
          <a:xfrm>
            <a:off x="7818119" y="4663440"/>
            <a:ext cx="347472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818119" y="4663440"/>
            <a:ext cx="3474720" cy="109728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818119" y="4663440"/>
            <a:ext cx="3474720"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955279" y="4773168"/>
            <a:ext cx="3291839" cy="320040"/>
          </a:xfrm>
          <a:prstGeom prst="rect">
            <a:avLst/>
          </a:prstGeom>
          <a:noFill/>
        </p:spPr>
        <p:txBody>
          <a:bodyPr wrap="square">
            <a:spAutoFit/>
          </a:bodyPr>
          <a:lstStyle/>
          <a:p>
            <a:pPr algn="l"/>
            <a:r>
              <a:rPr sz="1200" b="1" i="0">
                <a:solidFill>
                  <a:srgbClr val="1E2761"/>
                </a:solidFill>
                <a:latin typeface="Calibri"/>
              </a:rPr>
              <a:t>Observability</a:t>
            </a:r>
          </a:p>
        </p:txBody>
      </p:sp>
      <p:sp>
        <p:nvSpPr>
          <p:cNvPr id="49" name="TextBox 48"/>
          <p:cNvSpPr txBox="1"/>
          <p:nvPr/>
        </p:nvSpPr>
        <p:spPr>
          <a:xfrm>
            <a:off x="7955279" y="5102352"/>
            <a:ext cx="3291839" cy="548640"/>
          </a:xfrm>
          <a:prstGeom prst="rect">
            <a:avLst/>
          </a:prstGeom>
          <a:noFill/>
        </p:spPr>
        <p:txBody>
          <a:bodyPr wrap="square">
            <a:spAutoFit/>
          </a:bodyPr>
          <a:lstStyle/>
          <a:p>
            <a:pPr algn="l"/>
            <a:r>
              <a:rPr sz="1000" b="0" i="0">
                <a:solidFill>
                  <a:srgbClr val="556580"/>
                </a:solidFill>
                <a:latin typeface="Calibri"/>
              </a:rPr>
              <a:t>security.log · access.log · structured JSON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F"/>
        </a:solidFill>
        <a:effectLst/>
      </p:bgPr>
    </p:bg>
    <p:spTree>
      <p:nvGrpSpPr>
        <p:cNvPr id="1" name=""/>
        <p:cNvGrpSpPr/>
        <p:nvPr/>
      </p:nvGrpSpPr>
      <p:grpSpPr/>
      <p:sp>
        <p:nvSpPr>
          <p:cNvPr id="2" name="Rectangle 1"/>
          <p:cNvSpPr/>
          <p:nvPr/>
        </p:nvSpPr>
        <p:spPr>
          <a:xfrm>
            <a:off x="0" y="0"/>
            <a:ext cx="12188952" cy="7772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594360"/>
          </a:xfrm>
          <a:prstGeom prst="rect">
            <a:avLst/>
          </a:prstGeom>
          <a:noFill/>
        </p:spPr>
        <p:txBody>
          <a:bodyPr wrap="square">
            <a:spAutoFit/>
          </a:bodyPr>
          <a:lstStyle/>
          <a:p>
            <a:pPr algn="l"/>
            <a:r>
              <a:rPr sz="2600" b="1" i="0">
                <a:solidFill>
                  <a:srgbClr val="FFFFFF"/>
                </a:solidFill>
                <a:latin typeface="Calibri"/>
              </a:rPr>
              <a:t>Key Security Implementations</a:t>
            </a:r>
          </a:p>
        </p:txBody>
      </p:sp>
      <p:sp>
        <p:nvSpPr>
          <p:cNvPr id="4" name="Rectangle 3"/>
          <p:cNvSpPr/>
          <p:nvPr/>
        </p:nvSpPr>
        <p:spPr>
          <a:xfrm>
            <a:off x="320040" y="960120"/>
            <a:ext cx="5394960" cy="1325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960120"/>
            <a:ext cx="5394960" cy="132588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960120"/>
            <a:ext cx="64008" cy="132588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51560"/>
            <a:ext cx="5166360" cy="347472"/>
          </a:xfrm>
          <a:prstGeom prst="rect">
            <a:avLst/>
          </a:prstGeom>
          <a:noFill/>
        </p:spPr>
        <p:txBody>
          <a:bodyPr wrap="square">
            <a:spAutoFit/>
          </a:bodyPr>
          <a:lstStyle/>
          <a:p>
            <a:pPr algn="l"/>
            <a:r>
              <a:rPr sz="1300" b="1" i="0">
                <a:solidFill>
                  <a:srgbClr val="1E2761"/>
                </a:solidFill>
                <a:latin typeface="Calibri"/>
              </a:rPr>
              <a:t>Authentication</a:t>
            </a:r>
          </a:p>
        </p:txBody>
      </p:sp>
      <p:sp>
        <p:nvSpPr>
          <p:cNvPr id="8" name="TextBox 7"/>
          <p:cNvSpPr txBox="1"/>
          <p:nvPr/>
        </p:nvSpPr>
        <p:spPr>
          <a:xfrm>
            <a:off x="502920" y="1435608"/>
            <a:ext cx="5166360" cy="777240"/>
          </a:xfrm>
          <a:prstGeom prst="rect">
            <a:avLst/>
          </a:prstGeom>
          <a:noFill/>
        </p:spPr>
        <p:txBody>
          <a:bodyPr wrap="square">
            <a:spAutoFit/>
          </a:bodyPr>
          <a:lstStyle/>
          <a:p>
            <a:pPr algn="l"/>
            <a:r>
              <a:rPr sz="1050" b="0" i="0">
                <a:solidFill>
                  <a:srgbClr val="556580"/>
                </a:solidFill>
                <a:latin typeface="Calibri"/>
              </a:rPr>
              <a:t>bcrypt (cost 12) · 5-attempt lockout · IP rate limiting · password policy enforcement</a:t>
            </a:r>
          </a:p>
        </p:txBody>
      </p:sp>
      <p:sp>
        <p:nvSpPr>
          <p:cNvPr id="9" name="Rectangle 8"/>
          <p:cNvSpPr/>
          <p:nvPr/>
        </p:nvSpPr>
        <p:spPr>
          <a:xfrm>
            <a:off x="6355080" y="960120"/>
            <a:ext cx="5394960" cy="1325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960120"/>
            <a:ext cx="5394960" cy="132588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960120"/>
            <a:ext cx="64008" cy="132588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1051560"/>
            <a:ext cx="5166360" cy="347472"/>
          </a:xfrm>
          <a:prstGeom prst="rect">
            <a:avLst/>
          </a:prstGeom>
          <a:noFill/>
        </p:spPr>
        <p:txBody>
          <a:bodyPr wrap="square">
            <a:spAutoFit/>
          </a:bodyPr>
          <a:lstStyle/>
          <a:p>
            <a:pPr algn="l"/>
            <a:r>
              <a:rPr sz="1300" b="1" i="0">
                <a:solidFill>
                  <a:srgbClr val="1E2761"/>
                </a:solidFill>
                <a:latin typeface="Calibri"/>
              </a:rPr>
              <a:t>Encryption at Rest</a:t>
            </a:r>
          </a:p>
        </p:txBody>
      </p:sp>
      <p:sp>
        <p:nvSpPr>
          <p:cNvPr id="13" name="TextBox 12"/>
          <p:cNvSpPr txBox="1"/>
          <p:nvPr/>
        </p:nvSpPr>
        <p:spPr>
          <a:xfrm>
            <a:off x="6537960" y="1435608"/>
            <a:ext cx="5166360" cy="777240"/>
          </a:xfrm>
          <a:prstGeom prst="rect">
            <a:avLst/>
          </a:prstGeom>
          <a:noFill/>
        </p:spPr>
        <p:txBody>
          <a:bodyPr wrap="square">
            <a:spAutoFit/>
          </a:bodyPr>
          <a:lstStyle/>
          <a:p>
            <a:pPr algn="l"/>
            <a:r>
              <a:rPr sz="1050" b="0" i="0">
                <a:solidFill>
                  <a:srgbClr val="556580"/>
                </a:solidFill>
                <a:latin typeface="Calibri"/>
              </a:rPr>
              <a:t>Fernet (AES-128-CBC + HMAC-SHA256) · all documents encrypted before disk write · key auto-generated</a:t>
            </a:r>
          </a:p>
        </p:txBody>
      </p:sp>
      <p:sp>
        <p:nvSpPr>
          <p:cNvPr id="14" name="Rectangle 13"/>
          <p:cNvSpPr/>
          <p:nvPr/>
        </p:nvSpPr>
        <p:spPr>
          <a:xfrm>
            <a:off x="320040" y="2450591"/>
            <a:ext cx="5394960" cy="1325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2450591"/>
            <a:ext cx="5394960" cy="132588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 y="2450591"/>
            <a:ext cx="64008" cy="132588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542032"/>
            <a:ext cx="5166360" cy="347472"/>
          </a:xfrm>
          <a:prstGeom prst="rect">
            <a:avLst/>
          </a:prstGeom>
          <a:noFill/>
        </p:spPr>
        <p:txBody>
          <a:bodyPr wrap="square">
            <a:spAutoFit/>
          </a:bodyPr>
          <a:lstStyle/>
          <a:p>
            <a:pPr algn="l"/>
            <a:r>
              <a:rPr sz="1300" b="1" i="0">
                <a:solidFill>
                  <a:srgbClr val="1E2761"/>
                </a:solidFill>
                <a:latin typeface="Calibri"/>
              </a:rPr>
              <a:t>Role-Based Access Control</a:t>
            </a:r>
          </a:p>
        </p:txBody>
      </p:sp>
      <p:sp>
        <p:nvSpPr>
          <p:cNvPr id="18" name="TextBox 17"/>
          <p:cNvSpPr txBox="1"/>
          <p:nvPr/>
        </p:nvSpPr>
        <p:spPr>
          <a:xfrm>
            <a:off x="502920" y="2926079"/>
            <a:ext cx="5166360" cy="777240"/>
          </a:xfrm>
          <a:prstGeom prst="rect">
            <a:avLst/>
          </a:prstGeom>
          <a:noFill/>
        </p:spPr>
        <p:txBody>
          <a:bodyPr wrap="square">
            <a:spAutoFit/>
          </a:bodyPr>
          <a:lstStyle/>
          <a:p>
            <a:pPr algn="l"/>
            <a:r>
              <a:rPr sz="1050" b="0" i="0">
                <a:solidFill>
                  <a:srgbClr val="556580"/>
                </a:solidFill>
                <a:latin typeface="Calibri"/>
              </a:rPr>
              <a:t>3 roles: Admin / User / Guest · decorator-enforced · editor vs viewer distinction on shared docs</a:t>
            </a:r>
          </a:p>
        </p:txBody>
      </p:sp>
      <p:sp>
        <p:nvSpPr>
          <p:cNvPr id="19" name="Rectangle 18"/>
          <p:cNvSpPr/>
          <p:nvPr/>
        </p:nvSpPr>
        <p:spPr>
          <a:xfrm>
            <a:off x="6355080" y="2450591"/>
            <a:ext cx="5394960" cy="1325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55080" y="2450591"/>
            <a:ext cx="5394960" cy="132588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450591"/>
            <a:ext cx="64008" cy="132588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60" y="2542032"/>
            <a:ext cx="5166360" cy="347472"/>
          </a:xfrm>
          <a:prstGeom prst="rect">
            <a:avLst/>
          </a:prstGeom>
          <a:noFill/>
        </p:spPr>
        <p:txBody>
          <a:bodyPr wrap="square">
            <a:spAutoFit/>
          </a:bodyPr>
          <a:lstStyle/>
          <a:p>
            <a:pPr algn="l"/>
            <a:r>
              <a:rPr sz="1300" b="1" i="0">
                <a:solidFill>
                  <a:srgbClr val="1E2761"/>
                </a:solidFill>
                <a:latin typeface="Calibri"/>
              </a:rPr>
              <a:t>Session Management</a:t>
            </a:r>
          </a:p>
        </p:txBody>
      </p:sp>
      <p:sp>
        <p:nvSpPr>
          <p:cNvPr id="23" name="TextBox 22"/>
          <p:cNvSpPr txBox="1"/>
          <p:nvPr/>
        </p:nvSpPr>
        <p:spPr>
          <a:xfrm>
            <a:off x="6537960" y="2926079"/>
            <a:ext cx="5166360" cy="777240"/>
          </a:xfrm>
          <a:prstGeom prst="rect">
            <a:avLst/>
          </a:prstGeom>
          <a:noFill/>
        </p:spPr>
        <p:txBody>
          <a:bodyPr wrap="square">
            <a:spAutoFit/>
          </a:bodyPr>
          <a:lstStyle/>
          <a:p>
            <a:pPr algn="l"/>
            <a:r>
              <a:rPr sz="1050" b="0" i="0">
                <a:solidFill>
                  <a:srgbClr val="556580"/>
                </a:solidFill>
                <a:latin typeface="Calibri"/>
              </a:rPr>
              <a:t>cryptographic tokens (secrets.token_urlsafe) · 30 min timeout · HttpOnly + Secure + SameSite=Strict</a:t>
            </a:r>
          </a:p>
        </p:txBody>
      </p:sp>
      <p:sp>
        <p:nvSpPr>
          <p:cNvPr id="24" name="Rectangle 23"/>
          <p:cNvSpPr/>
          <p:nvPr/>
        </p:nvSpPr>
        <p:spPr>
          <a:xfrm>
            <a:off x="320040" y="3941063"/>
            <a:ext cx="5394960" cy="1325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0040" y="3941063"/>
            <a:ext cx="5394960" cy="132588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20040" y="3941063"/>
            <a:ext cx="64008" cy="132588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4032503"/>
            <a:ext cx="5166360" cy="347472"/>
          </a:xfrm>
          <a:prstGeom prst="rect">
            <a:avLst/>
          </a:prstGeom>
          <a:noFill/>
        </p:spPr>
        <p:txBody>
          <a:bodyPr wrap="square">
            <a:spAutoFit/>
          </a:bodyPr>
          <a:lstStyle/>
          <a:p>
            <a:pPr algn="l"/>
            <a:r>
              <a:rPr sz="1300" b="1" i="0">
                <a:solidFill>
                  <a:srgbClr val="1E2761"/>
                </a:solidFill>
                <a:latin typeface="Calibri"/>
              </a:rPr>
              <a:t>Input Validation</a:t>
            </a:r>
          </a:p>
        </p:txBody>
      </p:sp>
      <p:sp>
        <p:nvSpPr>
          <p:cNvPr id="28" name="TextBox 27"/>
          <p:cNvSpPr txBox="1"/>
          <p:nvPr/>
        </p:nvSpPr>
        <p:spPr>
          <a:xfrm>
            <a:off x="502920" y="4416552"/>
            <a:ext cx="5166360" cy="777240"/>
          </a:xfrm>
          <a:prstGeom prst="rect">
            <a:avLst/>
          </a:prstGeom>
          <a:noFill/>
        </p:spPr>
        <p:txBody>
          <a:bodyPr wrap="square">
            <a:spAutoFit/>
          </a:bodyPr>
          <a:lstStyle/>
          <a:p>
            <a:pPr algn="l"/>
            <a:r>
              <a:rPr sz="1050" b="0" i="0">
                <a:solidFill>
                  <a:srgbClr val="556580"/>
                </a:solidFill>
                <a:latin typeface="Calibri"/>
              </a:rPr>
              <a:t>UUID regex on doc IDs · extension + MIME whitelist · 10 MB limit · Jinja2 auto-escaping for XSS</a:t>
            </a:r>
          </a:p>
        </p:txBody>
      </p:sp>
      <p:sp>
        <p:nvSpPr>
          <p:cNvPr id="29" name="Rectangle 28"/>
          <p:cNvSpPr/>
          <p:nvPr/>
        </p:nvSpPr>
        <p:spPr>
          <a:xfrm>
            <a:off x="6355080" y="3941063"/>
            <a:ext cx="5394960" cy="1325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55080" y="3941063"/>
            <a:ext cx="5394960" cy="132588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355080" y="3941063"/>
            <a:ext cx="64008" cy="132588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4032503"/>
            <a:ext cx="5166360" cy="347472"/>
          </a:xfrm>
          <a:prstGeom prst="rect">
            <a:avLst/>
          </a:prstGeom>
          <a:noFill/>
        </p:spPr>
        <p:txBody>
          <a:bodyPr wrap="square">
            <a:spAutoFit/>
          </a:bodyPr>
          <a:lstStyle/>
          <a:p>
            <a:pPr algn="l"/>
            <a:r>
              <a:rPr sz="1300" b="1" i="0">
                <a:solidFill>
                  <a:srgbClr val="1E2761"/>
                </a:solidFill>
                <a:latin typeface="Calibri"/>
              </a:rPr>
              <a:t>Audit Logging</a:t>
            </a:r>
          </a:p>
        </p:txBody>
      </p:sp>
      <p:sp>
        <p:nvSpPr>
          <p:cNvPr id="33" name="TextBox 32"/>
          <p:cNvSpPr txBox="1"/>
          <p:nvPr/>
        </p:nvSpPr>
        <p:spPr>
          <a:xfrm>
            <a:off x="6537960" y="4416552"/>
            <a:ext cx="5166360" cy="777240"/>
          </a:xfrm>
          <a:prstGeom prst="rect">
            <a:avLst/>
          </a:prstGeom>
          <a:noFill/>
        </p:spPr>
        <p:txBody>
          <a:bodyPr wrap="square">
            <a:spAutoFit/>
          </a:bodyPr>
          <a:lstStyle/>
          <a:p>
            <a:pPr algn="l"/>
            <a:r>
              <a:rPr sz="1050" b="0" i="0">
                <a:solidFill>
                  <a:srgbClr val="556580"/>
                </a:solidFill>
                <a:latin typeface="Calibri"/>
              </a:rPr>
              <a:t>security.log for auth/security events · access.log for data access · structured JSON with IP + timestamp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F"/>
        </a:solidFill>
        <a:effectLst/>
      </p:bgPr>
    </p:bg>
    <p:spTree>
      <p:nvGrpSpPr>
        <p:cNvPr id="1" name=""/>
        <p:cNvGrpSpPr/>
        <p:nvPr/>
      </p:nvGrpSpPr>
      <p:grpSpPr/>
      <p:sp>
        <p:nvSpPr>
          <p:cNvPr id="2" name="Rectangle 1"/>
          <p:cNvSpPr/>
          <p:nvPr/>
        </p:nvSpPr>
        <p:spPr>
          <a:xfrm>
            <a:off x="0" y="0"/>
            <a:ext cx="12188952" cy="7772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594360"/>
          </a:xfrm>
          <a:prstGeom prst="rect">
            <a:avLst/>
          </a:prstGeom>
          <a:noFill/>
        </p:spPr>
        <p:txBody>
          <a:bodyPr wrap="square">
            <a:spAutoFit/>
          </a:bodyPr>
          <a:lstStyle/>
          <a:p>
            <a:pPr algn="l"/>
            <a:r>
              <a:rPr sz="2600" b="1" i="0">
                <a:solidFill>
                  <a:srgbClr val="FFFFFF"/>
                </a:solidFill>
                <a:latin typeface="Calibri"/>
              </a:rPr>
              <a:t>Penetration Testing Results</a:t>
            </a:r>
          </a:p>
        </p:txBody>
      </p:sp>
      <p:sp>
        <p:nvSpPr>
          <p:cNvPr id="4" name="Rectangle 3"/>
          <p:cNvSpPr/>
          <p:nvPr/>
        </p:nvSpPr>
        <p:spPr>
          <a:xfrm>
            <a:off x="973836" y="960120"/>
            <a:ext cx="18288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73836" y="960120"/>
            <a:ext cx="1828800" cy="1234440"/>
          </a:xfrm>
          <a:prstGeom prst="rect">
            <a:avLst/>
          </a:prstGeom>
          <a:no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3836" y="960120"/>
            <a:ext cx="1828800" cy="6400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3836" y="1051560"/>
            <a:ext cx="1828800" cy="640080"/>
          </a:xfrm>
          <a:prstGeom prst="rect">
            <a:avLst/>
          </a:prstGeom>
          <a:noFill/>
        </p:spPr>
        <p:txBody>
          <a:bodyPr wrap="square">
            <a:spAutoFit/>
          </a:bodyPr>
          <a:lstStyle/>
          <a:p>
            <a:pPr algn="ctr"/>
            <a:r>
              <a:rPr sz="3600" b="1" i="0">
                <a:solidFill>
                  <a:srgbClr val="DC2626"/>
                </a:solidFill>
                <a:latin typeface="Calibri"/>
              </a:rPr>
              <a:t>0</a:t>
            </a:r>
          </a:p>
        </p:txBody>
      </p:sp>
      <p:sp>
        <p:nvSpPr>
          <p:cNvPr id="8" name="TextBox 7"/>
          <p:cNvSpPr txBox="1"/>
          <p:nvPr/>
        </p:nvSpPr>
        <p:spPr>
          <a:xfrm>
            <a:off x="973836" y="1737360"/>
            <a:ext cx="1828800" cy="347472"/>
          </a:xfrm>
          <a:prstGeom prst="rect">
            <a:avLst/>
          </a:prstGeom>
          <a:noFill/>
        </p:spPr>
        <p:txBody>
          <a:bodyPr wrap="square">
            <a:spAutoFit/>
          </a:bodyPr>
          <a:lstStyle/>
          <a:p>
            <a:pPr algn="ctr"/>
            <a:r>
              <a:rPr sz="1200" b="0" i="0">
                <a:solidFill>
                  <a:srgbClr val="556580"/>
                </a:solidFill>
                <a:latin typeface="Calibri"/>
              </a:rPr>
              <a:t>Critical</a:t>
            </a:r>
          </a:p>
        </p:txBody>
      </p:sp>
      <p:sp>
        <p:nvSpPr>
          <p:cNvPr id="9" name="Rectangle 8"/>
          <p:cNvSpPr/>
          <p:nvPr/>
        </p:nvSpPr>
        <p:spPr>
          <a:xfrm>
            <a:off x="3076956" y="960120"/>
            <a:ext cx="18288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76956" y="960120"/>
            <a:ext cx="1828800" cy="1234440"/>
          </a:xfrm>
          <a:prstGeom prst="rect">
            <a:avLst/>
          </a:prstGeom>
          <a:no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76956" y="960120"/>
            <a:ext cx="1828800" cy="6400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76956" y="1051560"/>
            <a:ext cx="1828800" cy="640080"/>
          </a:xfrm>
          <a:prstGeom prst="rect">
            <a:avLst/>
          </a:prstGeom>
          <a:noFill/>
        </p:spPr>
        <p:txBody>
          <a:bodyPr wrap="square">
            <a:spAutoFit/>
          </a:bodyPr>
          <a:lstStyle/>
          <a:p>
            <a:pPr algn="ctr"/>
            <a:r>
              <a:rPr sz="3600" b="1" i="0">
                <a:solidFill>
                  <a:srgbClr val="EA580C"/>
                </a:solidFill>
                <a:latin typeface="Calibri"/>
              </a:rPr>
              <a:t>0</a:t>
            </a:r>
          </a:p>
        </p:txBody>
      </p:sp>
      <p:sp>
        <p:nvSpPr>
          <p:cNvPr id="13" name="TextBox 12"/>
          <p:cNvSpPr txBox="1"/>
          <p:nvPr/>
        </p:nvSpPr>
        <p:spPr>
          <a:xfrm>
            <a:off x="3076956" y="1737360"/>
            <a:ext cx="1828800" cy="347472"/>
          </a:xfrm>
          <a:prstGeom prst="rect">
            <a:avLst/>
          </a:prstGeom>
          <a:noFill/>
        </p:spPr>
        <p:txBody>
          <a:bodyPr wrap="square">
            <a:spAutoFit/>
          </a:bodyPr>
          <a:lstStyle/>
          <a:p>
            <a:pPr algn="ctr"/>
            <a:r>
              <a:rPr sz="1200" b="0" i="0">
                <a:solidFill>
                  <a:srgbClr val="556580"/>
                </a:solidFill>
                <a:latin typeface="Calibri"/>
              </a:rPr>
              <a:t>High</a:t>
            </a:r>
          </a:p>
        </p:txBody>
      </p:sp>
      <p:sp>
        <p:nvSpPr>
          <p:cNvPr id="14" name="Rectangle 13"/>
          <p:cNvSpPr/>
          <p:nvPr/>
        </p:nvSpPr>
        <p:spPr>
          <a:xfrm>
            <a:off x="5180075" y="960120"/>
            <a:ext cx="18288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80075" y="960120"/>
            <a:ext cx="1828800" cy="1234440"/>
          </a:xfrm>
          <a:prstGeom prst="rect">
            <a:avLst/>
          </a:prstGeom>
          <a:no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80075" y="960120"/>
            <a:ext cx="1828800" cy="640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80075" y="1051560"/>
            <a:ext cx="1828800" cy="640080"/>
          </a:xfrm>
          <a:prstGeom prst="rect">
            <a:avLst/>
          </a:prstGeom>
          <a:noFill/>
        </p:spPr>
        <p:txBody>
          <a:bodyPr wrap="square">
            <a:spAutoFit/>
          </a:bodyPr>
          <a:lstStyle/>
          <a:p>
            <a:pPr algn="ctr"/>
            <a:r>
              <a:rPr sz="3600" b="1" i="0">
                <a:solidFill>
                  <a:srgbClr val="D97706"/>
                </a:solidFill>
                <a:latin typeface="Calibri"/>
              </a:rPr>
              <a:t>0</a:t>
            </a:r>
          </a:p>
        </p:txBody>
      </p:sp>
      <p:sp>
        <p:nvSpPr>
          <p:cNvPr id="18" name="TextBox 17"/>
          <p:cNvSpPr txBox="1"/>
          <p:nvPr/>
        </p:nvSpPr>
        <p:spPr>
          <a:xfrm>
            <a:off x="5180075" y="1737360"/>
            <a:ext cx="1828800" cy="347472"/>
          </a:xfrm>
          <a:prstGeom prst="rect">
            <a:avLst/>
          </a:prstGeom>
          <a:noFill/>
        </p:spPr>
        <p:txBody>
          <a:bodyPr wrap="square">
            <a:spAutoFit/>
          </a:bodyPr>
          <a:lstStyle/>
          <a:p>
            <a:pPr algn="ctr"/>
            <a:r>
              <a:rPr sz="1200" b="0" i="0">
                <a:solidFill>
                  <a:srgbClr val="556580"/>
                </a:solidFill>
                <a:latin typeface="Calibri"/>
              </a:rPr>
              <a:t>Medium</a:t>
            </a:r>
          </a:p>
        </p:txBody>
      </p:sp>
      <p:sp>
        <p:nvSpPr>
          <p:cNvPr id="19" name="Rectangle 18"/>
          <p:cNvSpPr/>
          <p:nvPr/>
        </p:nvSpPr>
        <p:spPr>
          <a:xfrm>
            <a:off x="7283196" y="960120"/>
            <a:ext cx="18288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83196" y="960120"/>
            <a:ext cx="1828800" cy="1234440"/>
          </a:xfrm>
          <a:prstGeom prst="rect">
            <a:avLst/>
          </a:prstGeom>
          <a:noFill/>
          <a:ln w="25400">
            <a:solidFill>
              <a:srgbClr val="16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83196" y="960120"/>
            <a:ext cx="1828800" cy="64008"/>
          </a:xfrm>
          <a:prstGeom prst="rect">
            <a:avLst/>
          </a:prstGeom>
          <a:solidFill>
            <a:srgbClr val="16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83196" y="1051560"/>
            <a:ext cx="1828800" cy="640080"/>
          </a:xfrm>
          <a:prstGeom prst="rect">
            <a:avLst/>
          </a:prstGeom>
          <a:noFill/>
        </p:spPr>
        <p:txBody>
          <a:bodyPr wrap="square">
            <a:spAutoFit/>
          </a:bodyPr>
          <a:lstStyle/>
          <a:p>
            <a:pPr algn="ctr"/>
            <a:r>
              <a:rPr sz="3600" b="1" i="0">
                <a:solidFill>
                  <a:srgbClr val="1678D4"/>
                </a:solidFill>
                <a:latin typeface="Calibri"/>
              </a:rPr>
              <a:t>2</a:t>
            </a:r>
          </a:p>
        </p:txBody>
      </p:sp>
      <p:sp>
        <p:nvSpPr>
          <p:cNvPr id="23" name="TextBox 22"/>
          <p:cNvSpPr txBox="1"/>
          <p:nvPr/>
        </p:nvSpPr>
        <p:spPr>
          <a:xfrm>
            <a:off x="7283196" y="1737360"/>
            <a:ext cx="1828800" cy="347472"/>
          </a:xfrm>
          <a:prstGeom prst="rect">
            <a:avLst/>
          </a:prstGeom>
          <a:noFill/>
        </p:spPr>
        <p:txBody>
          <a:bodyPr wrap="square">
            <a:spAutoFit/>
          </a:bodyPr>
          <a:lstStyle/>
          <a:p>
            <a:pPr algn="ctr"/>
            <a:r>
              <a:rPr sz="1200" b="0" i="0">
                <a:solidFill>
                  <a:srgbClr val="556580"/>
                </a:solidFill>
                <a:latin typeface="Calibri"/>
              </a:rPr>
              <a:t>Low</a:t>
            </a:r>
          </a:p>
        </p:txBody>
      </p:sp>
      <p:sp>
        <p:nvSpPr>
          <p:cNvPr id="24" name="Rectangle 23"/>
          <p:cNvSpPr/>
          <p:nvPr/>
        </p:nvSpPr>
        <p:spPr>
          <a:xfrm>
            <a:off x="9386315" y="960120"/>
            <a:ext cx="18288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386315" y="960120"/>
            <a:ext cx="1828800" cy="1234440"/>
          </a:xfrm>
          <a:prstGeom prst="rect">
            <a:avLst/>
          </a:prstGeom>
          <a:noFill/>
          <a:ln w="25400">
            <a:solidFill>
              <a:srgbClr val="5565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386315" y="960120"/>
            <a:ext cx="1828800" cy="64008"/>
          </a:xfrm>
          <a:prstGeom prst="rect">
            <a:avLst/>
          </a:prstGeom>
          <a:solidFill>
            <a:srgbClr val="556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86315" y="1051560"/>
            <a:ext cx="1828800" cy="640080"/>
          </a:xfrm>
          <a:prstGeom prst="rect">
            <a:avLst/>
          </a:prstGeom>
          <a:noFill/>
        </p:spPr>
        <p:txBody>
          <a:bodyPr wrap="square">
            <a:spAutoFit/>
          </a:bodyPr>
          <a:lstStyle/>
          <a:p>
            <a:pPr algn="ctr"/>
            <a:r>
              <a:rPr sz="3600" b="1" i="0">
                <a:solidFill>
                  <a:srgbClr val="556580"/>
                </a:solidFill>
                <a:latin typeface="Calibri"/>
              </a:rPr>
              <a:t>1</a:t>
            </a:r>
          </a:p>
        </p:txBody>
      </p:sp>
      <p:sp>
        <p:nvSpPr>
          <p:cNvPr id="28" name="TextBox 27"/>
          <p:cNvSpPr txBox="1"/>
          <p:nvPr/>
        </p:nvSpPr>
        <p:spPr>
          <a:xfrm>
            <a:off x="9386315" y="1737360"/>
            <a:ext cx="1828800" cy="347472"/>
          </a:xfrm>
          <a:prstGeom prst="rect">
            <a:avLst/>
          </a:prstGeom>
          <a:noFill/>
        </p:spPr>
        <p:txBody>
          <a:bodyPr wrap="square">
            <a:spAutoFit/>
          </a:bodyPr>
          <a:lstStyle/>
          <a:p>
            <a:pPr algn="ctr"/>
            <a:r>
              <a:rPr sz="1200" b="0" i="0">
                <a:solidFill>
                  <a:srgbClr val="556580"/>
                </a:solidFill>
                <a:latin typeface="Calibri"/>
              </a:rPr>
              <a:t>Info</a:t>
            </a:r>
          </a:p>
        </p:txBody>
      </p:sp>
      <p:sp>
        <p:nvSpPr>
          <p:cNvPr id="29" name="TextBox 28"/>
          <p:cNvSpPr txBox="1"/>
          <p:nvPr/>
        </p:nvSpPr>
        <p:spPr>
          <a:xfrm>
            <a:off x="457200" y="2423160"/>
            <a:ext cx="7315200" cy="365760"/>
          </a:xfrm>
          <a:prstGeom prst="rect">
            <a:avLst/>
          </a:prstGeom>
          <a:noFill/>
        </p:spPr>
        <p:txBody>
          <a:bodyPr wrap="square">
            <a:spAutoFit/>
          </a:bodyPr>
          <a:lstStyle/>
          <a:p>
            <a:pPr algn="l"/>
            <a:r>
              <a:rPr sz="1400" b="1" i="0">
                <a:solidFill>
                  <a:srgbClr val="1E2761"/>
                </a:solidFill>
                <a:latin typeface="Calibri"/>
              </a:rPr>
              <a:t>Notable Findings</a:t>
            </a:r>
          </a:p>
        </p:txBody>
      </p:sp>
      <p:sp>
        <p:nvSpPr>
          <p:cNvPr id="30" name="Rectangle 29"/>
          <p:cNvSpPr/>
          <p:nvPr/>
        </p:nvSpPr>
        <p:spPr>
          <a:xfrm>
            <a:off x="320040" y="2880360"/>
            <a:ext cx="11521440" cy="38404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79" y="2953512"/>
            <a:ext cx="1005839" cy="274320"/>
          </a:xfrm>
          <a:prstGeom prst="rect">
            <a:avLst/>
          </a:prstGeom>
          <a:noFill/>
        </p:spPr>
        <p:txBody>
          <a:bodyPr wrap="square">
            <a:spAutoFit/>
          </a:bodyPr>
          <a:lstStyle/>
          <a:p>
            <a:pPr algn="l"/>
            <a:r>
              <a:rPr sz="1100" b="1" i="0">
                <a:solidFill>
                  <a:srgbClr val="FFFFFF"/>
                </a:solidFill>
                <a:latin typeface="Calibri"/>
              </a:rPr>
              <a:t>Severity</a:t>
            </a:r>
          </a:p>
        </p:txBody>
      </p:sp>
      <p:sp>
        <p:nvSpPr>
          <p:cNvPr id="32" name="TextBox 31"/>
          <p:cNvSpPr txBox="1"/>
          <p:nvPr/>
        </p:nvSpPr>
        <p:spPr>
          <a:xfrm>
            <a:off x="1508760" y="2953512"/>
            <a:ext cx="2834640" cy="274320"/>
          </a:xfrm>
          <a:prstGeom prst="rect">
            <a:avLst/>
          </a:prstGeom>
          <a:noFill/>
        </p:spPr>
        <p:txBody>
          <a:bodyPr wrap="square">
            <a:spAutoFit/>
          </a:bodyPr>
          <a:lstStyle/>
          <a:p>
            <a:pPr algn="l"/>
            <a:r>
              <a:rPr sz="1100" b="1" i="0">
                <a:solidFill>
                  <a:srgbClr val="FFFFFF"/>
                </a:solidFill>
                <a:latin typeface="Calibri"/>
              </a:rPr>
              <a:t>Finding</a:t>
            </a:r>
          </a:p>
        </p:txBody>
      </p:sp>
      <p:sp>
        <p:nvSpPr>
          <p:cNvPr id="33" name="TextBox 32"/>
          <p:cNvSpPr txBox="1"/>
          <p:nvPr/>
        </p:nvSpPr>
        <p:spPr>
          <a:xfrm>
            <a:off x="4434840" y="2953512"/>
            <a:ext cx="7040880" cy="274320"/>
          </a:xfrm>
          <a:prstGeom prst="rect">
            <a:avLst/>
          </a:prstGeom>
          <a:noFill/>
        </p:spPr>
        <p:txBody>
          <a:bodyPr wrap="square">
            <a:spAutoFit/>
          </a:bodyPr>
          <a:lstStyle/>
          <a:p>
            <a:pPr algn="l"/>
            <a:r>
              <a:rPr sz="1100" b="1" i="0">
                <a:solidFill>
                  <a:srgbClr val="FFFFFF"/>
                </a:solidFill>
                <a:latin typeface="Calibri"/>
              </a:rPr>
              <a:t>Description</a:t>
            </a:r>
          </a:p>
        </p:txBody>
      </p:sp>
      <p:sp>
        <p:nvSpPr>
          <p:cNvPr id="34" name="Rectangle 33"/>
          <p:cNvSpPr/>
          <p:nvPr/>
        </p:nvSpPr>
        <p:spPr>
          <a:xfrm>
            <a:off x="320040" y="3264408"/>
            <a:ext cx="1152144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20040" y="3264408"/>
            <a:ext cx="11521440" cy="475488"/>
          </a:xfrm>
          <a:prstGeom prst="rect">
            <a:avLst/>
          </a:prstGeom>
          <a:noFill/>
          <a:ln w="635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79" y="3355848"/>
            <a:ext cx="1005840" cy="320040"/>
          </a:xfrm>
          <a:prstGeom prst="rect">
            <a:avLst/>
          </a:prstGeom>
          <a:noFill/>
        </p:spPr>
        <p:txBody>
          <a:bodyPr wrap="square">
            <a:spAutoFit/>
          </a:bodyPr>
          <a:lstStyle/>
          <a:p>
            <a:pPr algn="l"/>
            <a:r>
              <a:rPr sz="1000" b="1" i="0">
                <a:solidFill>
                  <a:srgbClr val="1678D4"/>
                </a:solidFill>
                <a:latin typeface="Calibri"/>
              </a:rPr>
              <a:t>LOW</a:t>
            </a:r>
          </a:p>
        </p:txBody>
      </p:sp>
      <p:sp>
        <p:nvSpPr>
          <p:cNvPr id="37" name="TextBox 36"/>
          <p:cNvSpPr txBox="1"/>
          <p:nvPr/>
        </p:nvSpPr>
        <p:spPr>
          <a:xfrm>
            <a:off x="1508760" y="3355848"/>
            <a:ext cx="2834640" cy="320040"/>
          </a:xfrm>
          <a:prstGeom prst="rect">
            <a:avLst/>
          </a:prstGeom>
          <a:noFill/>
        </p:spPr>
        <p:txBody>
          <a:bodyPr wrap="square">
            <a:spAutoFit/>
          </a:bodyPr>
          <a:lstStyle/>
          <a:p>
            <a:pPr algn="l"/>
            <a:r>
              <a:rPr sz="1000" b="1" i="0">
                <a:solidFill>
                  <a:srgbClr val="1E2761"/>
                </a:solidFill>
                <a:latin typeface="Calibri"/>
              </a:rPr>
              <a:t>Username enumeration</a:t>
            </a:r>
          </a:p>
        </p:txBody>
      </p:sp>
      <p:sp>
        <p:nvSpPr>
          <p:cNvPr id="38" name="TextBox 37"/>
          <p:cNvSpPr txBox="1"/>
          <p:nvPr/>
        </p:nvSpPr>
        <p:spPr>
          <a:xfrm>
            <a:off x="4434840" y="3310127"/>
            <a:ext cx="6949440" cy="384048"/>
          </a:xfrm>
          <a:prstGeom prst="rect">
            <a:avLst/>
          </a:prstGeom>
          <a:noFill/>
        </p:spPr>
        <p:txBody>
          <a:bodyPr wrap="square">
            <a:spAutoFit/>
          </a:bodyPr>
          <a:lstStyle/>
          <a:p>
            <a:pPr algn="l"/>
            <a:r>
              <a:rPr sz="950" b="0" i="0">
                <a:solidFill>
                  <a:srgbClr val="556580"/>
                </a:solidFill>
                <a:latin typeface="Calibri"/>
              </a:rPr>
              <a:t>Registration reveals whether username or email already exists separately.</a:t>
            </a:r>
          </a:p>
        </p:txBody>
      </p:sp>
      <p:sp>
        <p:nvSpPr>
          <p:cNvPr id="39" name="Rectangle 38"/>
          <p:cNvSpPr/>
          <p:nvPr/>
        </p:nvSpPr>
        <p:spPr>
          <a:xfrm>
            <a:off x="320040" y="3758183"/>
            <a:ext cx="1152144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20040" y="3758183"/>
            <a:ext cx="11521440" cy="475488"/>
          </a:xfrm>
          <a:prstGeom prst="rect">
            <a:avLst/>
          </a:prstGeom>
          <a:noFill/>
          <a:ln w="635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79" y="3849623"/>
            <a:ext cx="1005840" cy="320040"/>
          </a:xfrm>
          <a:prstGeom prst="rect">
            <a:avLst/>
          </a:prstGeom>
          <a:noFill/>
        </p:spPr>
        <p:txBody>
          <a:bodyPr wrap="square">
            <a:spAutoFit/>
          </a:bodyPr>
          <a:lstStyle/>
          <a:p>
            <a:pPr algn="l"/>
            <a:r>
              <a:rPr sz="1000" b="1" i="0">
                <a:solidFill>
                  <a:srgbClr val="1678D4"/>
                </a:solidFill>
                <a:latin typeface="Calibri"/>
              </a:rPr>
              <a:t>LOW</a:t>
            </a:r>
          </a:p>
        </p:txBody>
      </p:sp>
      <p:sp>
        <p:nvSpPr>
          <p:cNvPr id="42" name="TextBox 41"/>
          <p:cNvSpPr txBox="1"/>
          <p:nvPr/>
        </p:nvSpPr>
        <p:spPr>
          <a:xfrm>
            <a:off x="1508760" y="3849623"/>
            <a:ext cx="2834640" cy="320040"/>
          </a:xfrm>
          <a:prstGeom prst="rect">
            <a:avLst/>
          </a:prstGeom>
          <a:noFill/>
        </p:spPr>
        <p:txBody>
          <a:bodyPr wrap="square">
            <a:spAutoFit/>
          </a:bodyPr>
          <a:lstStyle/>
          <a:p>
            <a:pPr algn="l"/>
            <a:r>
              <a:rPr sz="1000" b="1" i="0">
                <a:solidFill>
                  <a:srgbClr val="1E2761"/>
                </a:solidFill>
                <a:latin typeface="Calibri"/>
              </a:rPr>
              <a:t>No rate limit on /change-password</a:t>
            </a:r>
          </a:p>
        </p:txBody>
      </p:sp>
      <p:sp>
        <p:nvSpPr>
          <p:cNvPr id="43" name="TextBox 42"/>
          <p:cNvSpPr txBox="1"/>
          <p:nvPr/>
        </p:nvSpPr>
        <p:spPr>
          <a:xfrm>
            <a:off x="4434840" y="3803903"/>
            <a:ext cx="6949440" cy="384048"/>
          </a:xfrm>
          <a:prstGeom prst="rect">
            <a:avLst/>
          </a:prstGeom>
          <a:noFill/>
        </p:spPr>
        <p:txBody>
          <a:bodyPr wrap="square">
            <a:spAutoFit/>
          </a:bodyPr>
          <a:lstStyle/>
          <a:p>
            <a:pPr algn="l"/>
            <a:r>
              <a:rPr sz="950" b="0" i="0">
                <a:solidFill>
                  <a:srgbClr val="556580"/>
                </a:solidFill>
                <a:latin typeface="Calibri"/>
              </a:rPr>
              <a:t>Password change endpoint lacks the throttling applied to /login.</a:t>
            </a:r>
          </a:p>
        </p:txBody>
      </p:sp>
      <p:sp>
        <p:nvSpPr>
          <p:cNvPr id="44" name="Rectangle 43"/>
          <p:cNvSpPr/>
          <p:nvPr/>
        </p:nvSpPr>
        <p:spPr>
          <a:xfrm>
            <a:off x="320040" y="4251959"/>
            <a:ext cx="1152144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0040" y="4251959"/>
            <a:ext cx="11521440" cy="475488"/>
          </a:xfrm>
          <a:prstGeom prst="rect">
            <a:avLst/>
          </a:prstGeom>
          <a:noFill/>
          <a:ln w="635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11479" y="4343399"/>
            <a:ext cx="1005840" cy="320040"/>
          </a:xfrm>
          <a:prstGeom prst="rect">
            <a:avLst/>
          </a:prstGeom>
          <a:noFill/>
        </p:spPr>
        <p:txBody>
          <a:bodyPr wrap="square">
            <a:spAutoFit/>
          </a:bodyPr>
          <a:lstStyle/>
          <a:p>
            <a:pPr algn="l"/>
            <a:r>
              <a:rPr sz="1000" b="1" i="0">
                <a:solidFill>
                  <a:srgbClr val="556580"/>
                </a:solidFill>
                <a:latin typeface="Calibri"/>
              </a:rPr>
              <a:t>INFO</a:t>
            </a:r>
          </a:p>
        </p:txBody>
      </p:sp>
      <p:sp>
        <p:nvSpPr>
          <p:cNvPr id="47" name="TextBox 46"/>
          <p:cNvSpPr txBox="1"/>
          <p:nvPr/>
        </p:nvSpPr>
        <p:spPr>
          <a:xfrm>
            <a:off x="1508760" y="4343399"/>
            <a:ext cx="2834640" cy="320040"/>
          </a:xfrm>
          <a:prstGeom prst="rect">
            <a:avLst/>
          </a:prstGeom>
          <a:noFill/>
        </p:spPr>
        <p:txBody>
          <a:bodyPr wrap="square">
            <a:spAutoFit/>
          </a:bodyPr>
          <a:lstStyle/>
          <a:p>
            <a:pPr algn="l"/>
            <a:r>
              <a:rPr sz="1000" b="1" i="0">
                <a:solidFill>
                  <a:srgbClr val="1E2761"/>
                </a:solidFill>
                <a:latin typeface="Calibri"/>
              </a:rPr>
              <a:t>Secure deletion on SSDs</a:t>
            </a:r>
          </a:p>
        </p:txBody>
      </p:sp>
      <p:sp>
        <p:nvSpPr>
          <p:cNvPr id="48" name="TextBox 47"/>
          <p:cNvSpPr txBox="1"/>
          <p:nvPr/>
        </p:nvSpPr>
        <p:spPr>
          <a:xfrm>
            <a:off x="4434840" y="4297679"/>
            <a:ext cx="6949440" cy="384048"/>
          </a:xfrm>
          <a:prstGeom prst="rect">
            <a:avLst/>
          </a:prstGeom>
          <a:noFill/>
        </p:spPr>
        <p:txBody>
          <a:bodyPr wrap="square">
            <a:spAutoFit/>
          </a:bodyPr>
          <a:lstStyle/>
          <a:p>
            <a:pPr algn="l"/>
            <a:r>
              <a:rPr sz="950" b="0" i="0">
                <a:solidFill>
                  <a:srgbClr val="556580"/>
                </a:solidFill>
                <a:latin typeface="Calibri"/>
              </a:rPr>
              <a:t>Byte-overwrite before delete is best-effort only on modern storage.</a:t>
            </a:r>
          </a:p>
        </p:txBody>
      </p:sp>
      <p:sp>
        <p:nvSpPr>
          <p:cNvPr id="49" name="TextBox 48"/>
          <p:cNvSpPr txBox="1"/>
          <p:nvPr/>
        </p:nvSpPr>
        <p:spPr>
          <a:xfrm>
            <a:off x="320040" y="4928616"/>
            <a:ext cx="11521440" cy="365760"/>
          </a:xfrm>
          <a:prstGeom prst="rect">
            <a:avLst/>
          </a:prstGeom>
          <a:noFill/>
        </p:spPr>
        <p:txBody>
          <a:bodyPr wrap="square">
            <a:spAutoFit/>
          </a:bodyPr>
          <a:lstStyle/>
          <a:p>
            <a:pPr algn="ctr"/>
            <a:r>
              <a:rPr sz="1200" b="1" i="0">
                <a:solidFill>
                  <a:srgbClr val="16A34A"/>
                </a:solidFill>
                <a:latin typeface="Calibri"/>
              </a:rPr>
              <a:t>All critical, high, and medium attack vectors were mitigated successfully.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F"/>
        </a:solidFill>
        <a:effectLst/>
      </p:bgPr>
    </p:bg>
    <p:spTree>
      <p:nvGrpSpPr>
        <p:cNvPr id="1" name=""/>
        <p:cNvGrpSpPr/>
        <p:nvPr/>
      </p:nvGrpSpPr>
      <p:grpSpPr/>
      <p:sp>
        <p:nvSpPr>
          <p:cNvPr id="2" name="Rectangle 1"/>
          <p:cNvSpPr/>
          <p:nvPr/>
        </p:nvSpPr>
        <p:spPr>
          <a:xfrm>
            <a:off x="0" y="0"/>
            <a:ext cx="12188952" cy="7772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594360"/>
          </a:xfrm>
          <a:prstGeom prst="rect">
            <a:avLst/>
          </a:prstGeom>
          <a:noFill/>
        </p:spPr>
        <p:txBody>
          <a:bodyPr wrap="square">
            <a:spAutoFit/>
          </a:bodyPr>
          <a:lstStyle/>
          <a:p>
            <a:pPr algn="l"/>
            <a:r>
              <a:rPr sz="2600" b="1" i="0">
                <a:solidFill>
                  <a:srgbClr val="FFFFFF"/>
                </a:solidFill>
                <a:latin typeface="Calibri"/>
              </a:rPr>
              <a:t>Challenges &amp; Lessons Learned</a:t>
            </a:r>
          </a:p>
        </p:txBody>
      </p:sp>
      <p:sp>
        <p:nvSpPr>
          <p:cNvPr id="4" name="Rectangle 3"/>
          <p:cNvSpPr/>
          <p:nvPr/>
        </p:nvSpPr>
        <p:spPr>
          <a:xfrm>
            <a:off x="320040" y="914400"/>
            <a:ext cx="5394960" cy="4572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960120"/>
            <a:ext cx="5166360" cy="347472"/>
          </a:xfrm>
          <a:prstGeom prst="rect">
            <a:avLst/>
          </a:prstGeom>
          <a:noFill/>
        </p:spPr>
        <p:txBody>
          <a:bodyPr wrap="square">
            <a:spAutoFit/>
          </a:bodyPr>
          <a:lstStyle/>
          <a:p>
            <a:pPr algn="l"/>
            <a:r>
              <a:rPr sz="1400" b="1" i="0">
                <a:solidFill>
                  <a:srgbClr val="FFFFFF"/>
                </a:solidFill>
                <a:latin typeface="Calibri"/>
              </a:rPr>
              <a:t>Challenges</a:t>
            </a:r>
          </a:p>
        </p:txBody>
      </p:sp>
      <p:sp>
        <p:nvSpPr>
          <p:cNvPr id="6" name="Rectangle 5"/>
          <p:cNvSpPr/>
          <p:nvPr/>
        </p:nvSpPr>
        <p:spPr>
          <a:xfrm>
            <a:off x="320040" y="1463040"/>
            <a:ext cx="539496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463040"/>
            <a:ext cx="5394960" cy="141732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463040"/>
            <a:ext cx="64008" cy="14173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554480"/>
            <a:ext cx="5166360" cy="347472"/>
          </a:xfrm>
          <a:prstGeom prst="rect">
            <a:avLst/>
          </a:prstGeom>
          <a:noFill/>
        </p:spPr>
        <p:txBody>
          <a:bodyPr wrap="square">
            <a:spAutoFit/>
          </a:bodyPr>
          <a:lstStyle/>
          <a:p>
            <a:pPr algn="l"/>
            <a:r>
              <a:rPr sz="1200" b="1" i="0">
                <a:solidFill>
                  <a:srgbClr val="1E2761"/>
                </a:solidFill>
                <a:latin typeface="Calibri"/>
              </a:rPr>
              <a:t>File-based storage security</a:t>
            </a:r>
          </a:p>
        </p:txBody>
      </p:sp>
      <p:sp>
        <p:nvSpPr>
          <p:cNvPr id="10" name="TextBox 9"/>
          <p:cNvSpPr txBox="1"/>
          <p:nvPr/>
        </p:nvSpPr>
        <p:spPr>
          <a:xfrm>
            <a:off x="502920" y="1920240"/>
            <a:ext cx="5166360" cy="914400"/>
          </a:xfrm>
          <a:prstGeom prst="rect">
            <a:avLst/>
          </a:prstGeom>
          <a:noFill/>
        </p:spPr>
        <p:txBody>
          <a:bodyPr wrap="square">
            <a:spAutoFit/>
          </a:bodyPr>
          <a:lstStyle/>
          <a:p>
            <a:pPr algn="l"/>
            <a:r>
              <a:rPr sz="1000" b="0" i="0">
                <a:solidFill>
                  <a:srgbClr val="556580"/>
                </a:solidFill>
                <a:latin typeface="Calibri"/>
              </a:rPr>
              <a:t>Ensuring encrypted JSON files on disk couldn't be tampered with or accessed outside the app required careful path validation and Fernet HMAC verification.</a:t>
            </a:r>
          </a:p>
        </p:txBody>
      </p:sp>
      <p:sp>
        <p:nvSpPr>
          <p:cNvPr id="11" name="Rectangle 10"/>
          <p:cNvSpPr/>
          <p:nvPr/>
        </p:nvSpPr>
        <p:spPr>
          <a:xfrm>
            <a:off x="320040" y="2971800"/>
            <a:ext cx="539496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2971800"/>
            <a:ext cx="5394960" cy="141732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 y="2971800"/>
            <a:ext cx="64008" cy="14173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3240"/>
            <a:ext cx="5166360" cy="347472"/>
          </a:xfrm>
          <a:prstGeom prst="rect">
            <a:avLst/>
          </a:prstGeom>
          <a:noFill/>
        </p:spPr>
        <p:txBody>
          <a:bodyPr wrap="square">
            <a:spAutoFit/>
          </a:bodyPr>
          <a:lstStyle/>
          <a:p>
            <a:pPr algn="l"/>
            <a:r>
              <a:rPr sz="1200" b="1" i="0">
                <a:solidFill>
                  <a:srgbClr val="1E2761"/>
                </a:solidFill>
                <a:latin typeface="Calibri"/>
              </a:rPr>
              <a:t>Balancing usability and security</a:t>
            </a:r>
          </a:p>
        </p:txBody>
      </p:sp>
      <p:sp>
        <p:nvSpPr>
          <p:cNvPr id="15" name="TextBox 14"/>
          <p:cNvSpPr txBox="1"/>
          <p:nvPr/>
        </p:nvSpPr>
        <p:spPr>
          <a:xfrm>
            <a:off x="502920" y="3429000"/>
            <a:ext cx="5166360" cy="914400"/>
          </a:xfrm>
          <a:prstGeom prst="rect">
            <a:avLst/>
          </a:prstGeom>
          <a:noFill/>
        </p:spPr>
        <p:txBody>
          <a:bodyPr wrap="square">
            <a:spAutoFit/>
          </a:bodyPr>
          <a:lstStyle/>
          <a:p>
            <a:pPr algn="l"/>
            <a:r>
              <a:rPr sz="1000" b="0" i="0">
                <a:solidFill>
                  <a:srgbClr val="556580"/>
                </a:solidFill>
                <a:latin typeface="Calibri"/>
              </a:rPr>
              <a:t>Strict SameSite=Strict cookies and HTTPS-only enforcement created friction during local development, requiring debug-mode exceptions.</a:t>
            </a:r>
          </a:p>
        </p:txBody>
      </p:sp>
      <p:sp>
        <p:nvSpPr>
          <p:cNvPr id="16" name="Rectangle 15"/>
          <p:cNvSpPr/>
          <p:nvPr/>
        </p:nvSpPr>
        <p:spPr>
          <a:xfrm>
            <a:off x="320040" y="4480560"/>
            <a:ext cx="539496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 y="4480560"/>
            <a:ext cx="5394960" cy="141732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0040" y="4480560"/>
            <a:ext cx="64008" cy="14173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572000"/>
            <a:ext cx="5166360" cy="347472"/>
          </a:xfrm>
          <a:prstGeom prst="rect">
            <a:avLst/>
          </a:prstGeom>
          <a:noFill/>
        </p:spPr>
        <p:txBody>
          <a:bodyPr wrap="square">
            <a:spAutoFit/>
          </a:bodyPr>
          <a:lstStyle/>
          <a:p>
            <a:pPr algn="l"/>
            <a:r>
              <a:rPr sz="1200" b="1" i="0">
                <a:solidFill>
                  <a:srgbClr val="1E2761"/>
                </a:solidFill>
                <a:latin typeface="Calibri"/>
              </a:rPr>
              <a:t>Secure deletion limitations</a:t>
            </a:r>
          </a:p>
        </p:txBody>
      </p:sp>
      <p:sp>
        <p:nvSpPr>
          <p:cNvPr id="20" name="TextBox 19"/>
          <p:cNvSpPr txBox="1"/>
          <p:nvPr/>
        </p:nvSpPr>
        <p:spPr>
          <a:xfrm>
            <a:off x="502920" y="4937760"/>
            <a:ext cx="5166360" cy="914400"/>
          </a:xfrm>
          <a:prstGeom prst="rect">
            <a:avLst/>
          </a:prstGeom>
          <a:noFill/>
        </p:spPr>
        <p:txBody>
          <a:bodyPr wrap="square">
            <a:spAutoFit/>
          </a:bodyPr>
          <a:lstStyle/>
          <a:p>
            <a:pPr algn="l"/>
            <a:r>
              <a:rPr sz="1000" b="0" i="0">
                <a:solidFill>
                  <a:srgbClr val="556580"/>
                </a:solidFill>
                <a:latin typeface="Calibri"/>
              </a:rPr>
              <a:t>Discovered that byte-overwriting files does not guarantee erasure on SSDs — shifted reliance to encryption-key management as the primary deletion defense.</a:t>
            </a:r>
          </a:p>
        </p:txBody>
      </p:sp>
      <p:sp>
        <p:nvSpPr>
          <p:cNvPr id="21" name="Rectangle 20"/>
          <p:cNvSpPr/>
          <p:nvPr/>
        </p:nvSpPr>
        <p:spPr>
          <a:xfrm>
            <a:off x="6400800" y="914400"/>
            <a:ext cx="5394960" cy="4572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960120"/>
            <a:ext cx="5166360" cy="347472"/>
          </a:xfrm>
          <a:prstGeom prst="rect">
            <a:avLst/>
          </a:prstGeom>
          <a:noFill/>
        </p:spPr>
        <p:txBody>
          <a:bodyPr wrap="square">
            <a:spAutoFit/>
          </a:bodyPr>
          <a:lstStyle/>
          <a:p>
            <a:pPr algn="l"/>
            <a:r>
              <a:rPr sz="1400" b="1" i="0">
                <a:solidFill>
                  <a:srgbClr val="FFFFFF"/>
                </a:solidFill>
                <a:latin typeface="Calibri"/>
              </a:rPr>
              <a:t>Lessons Learned</a:t>
            </a:r>
          </a:p>
        </p:txBody>
      </p:sp>
      <p:sp>
        <p:nvSpPr>
          <p:cNvPr id="23" name="Rectangle 22"/>
          <p:cNvSpPr/>
          <p:nvPr/>
        </p:nvSpPr>
        <p:spPr>
          <a:xfrm>
            <a:off x="6400800" y="1463040"/>
            <a:ext cx="539496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1463040"/>
            <a:ext cx="5394960" cy="141732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0" y="1463040"/>
            <a:ext cx="64008" cy="14173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1554480"/>
            <a:ext cx="5166360" cy="347472"/>
          </a:xfrm>
          <a:prstGeom prst="rect">
            <a:avLst/>
          </a:prstGeom>
          <a:noFill/>
        </p:spPr>
        <p:txBody>
          <a:bodyPr wrap="square">
            <a:spAutoFit/>
          </a:bodyPr>
          <a:lstStyle/>
          <a:p>
            <a:pPr algn="l"/>
            <a:r>
              <a:rPr sz="1200" b="1" i="0">
                <a:solidFill>
                  <a:srgbClr val="1E2761"/>
                </a:solidFill>
                <a:latin typeface="Calibri"/>
              </a:rPr>
              <a:t>Defence in depth matters</a:t>
            </a:r>
          </a:p>
        </p:txBody>
      </p:sp>
      <p:sp>
        <p:nvSpPr>
          <p:cNvPr id="27" name="TextBox 26"/>
          <p:cNvSpPr txBox="1"/>
          <p:nvPr/>
        </p:nvSpPr>
        <p:spPr>
          <a:xfrm>
            <a:off x="6583680" y="1920240"/>
            <a:ext cx="5166360" cy="914400"/>
          </a:xfrm>
          <a:prstGeom prst="rect">
            <a:avLst/>
          </a:prstGeom>
          <a:noFill/>
        </p:spPr>
        <p:txBody>
          <a:bodyPr wrap="square">
            <a:spAutoFit/>
          </a:bodyPr>
          <a:lstStyle/>
          <a:p>
            <a:pPr algn="l"/>
            <a:r>
              <a:rPr sz="1000" b="0" i="0">
                <a:solidFill>
                  <a:srgbClr val="556580"/>
                </a:solidFill>
                <a:latin typeface="Calibri"/>
              </a:rPr>
              <a:t>No single control is enough. Combining RBAC, encryption, validation, and logging means an attacker must defeat multiple independent layers.</a:t>
            </a:r>
          </a:p>
        </p:txBody>
      </p:sp>
      <p:sp>
        <p:nvSpPr>
          <p:cNvPr id="28" name="Rectangle 27"/>
          <p:cNvSpPr/>
          <p:nvPr/>
        </p:nvSpPr>
        <p:spPr>
          <a:xfrm>
            <a:off x="6400800" y="2971800"/>
            <a:ext cx="539496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0" y="2971800"/>
            <a:ext cx="5394960" cy="141732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0" y="2971800"/>
            <a:ext cx="64008" cy="14173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0" y="3063240"/>
            <a:ext cx="5166360" cy="347472"/>
          </a:xfrm>
          <a:prstGeom prst="rect">
            <a:avLst/>
          </a:prstGeom>
          <a:noFill/>
        </p:spPr>
        <p:txBody>
          <a:bodyPr wrap="square">
            <a:spAutoFit/>
          </a:bodyPr>
          <a:lstStyle/>
          <a:p>
            <a:pPr algn="l"/>
            <a:r>
              <a:rPr sz="1200" b="1" i="0">
                <a:solidFill>
                  <a:srgbClr val="1E2761"/>
                </a:solidFill>
                <a:latin typeface="Calibri"/>
              </a:rPr>
              <a:t>Test the negative cases</a:t>
            </a:r>
          </a:p>
        </p:txBody>
      </p:sp>
      <p:sp>
        <p:nvSpPr>
          <p:cNvPr id="32" name="TextBox 31"/>
          <p:cNvSpPr txBox="1"/>
          <p:nvPr/>
        </p:nvSpPr>
        <p:spPr>
          <a:xfrm>
            <a:off x="6583680" y="3429000"/>
            <a:ext cx="5166360" cy="914400"/>
          </a:xfrm>
          <a:prstGeom prst="rect">
            <a:avLst/>
          </a:prstGeom>
          <a:noFill/>
        </p:spPr>
        <p:txBody>
          <a:bodyPr wrap="square">
            <a:spAutoFit/>
          </a:bodyPr>
          <a:lstStyle/>
          <a:p>
            <a:pPr algn="l"/>
            <a:r>
              <a:rPr sz="1000" b="0" i="0">
                <a:solidFill>
                  <a:srgbClr val="556580"/>
                </a:solidFill>
                <a:latin typeface="Calibri"/>
              </a:rPr>
              <a:t>Security testing is mostly about proving things don't work when they shouldn't — access denied, lockout enforced, bad input rejected.</a:t>
            </a:r>
          </a:p>
        </p:txBody>
      </p:sp>
      <p:sp>
        <p:nvSpPr>
          <p:cNvPr id="33" name="Rectangle 32"/>
          <p:cNvSpPr/>
          <p:nvPr/>
        </p:nvSpPr>
        <p:spPr>
          <a:xfrm>
            <a:off x="6400800" y="4480560"/>
            <a:ext cx="539496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00800" y="4480560"/>
            <a:ext cx="5394960" cy="1417320"/>
          </a:xfrm>
          <a:prstGeom prst="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0" y="4480560"/>
            <a:ext cx="64008" cy="14173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0" y="4572000"/>
            <a:ext cx="5166360" cy="347472"/>
          </a:xfrm>
          <a:prstGeom prst="rect">
            <a:avLst/>
          </a:prstGeom>
          <a:noFill/>
        </p:spPr>
        <p:txBody>
          <a:bodyPr wrap="square">
            <a:spAutoFit/>
          </a:bodyPr>
          <a:lstStyle/>
          <a:p>
            <a:pPr algn="l"/>
            <a:r>
              <a:rPr sz="1200" b="1" i="0">
                <a:solidFill>
                  <a:srgbClr val="1E2761"/>
                </a:solidFill>
                <a:latin typeface="Calibri"/>
              </a:rPr>
              <a:t>Secrets in version control are a real risk</a:t>
            </a:r>
          </a:p>
        </p:txBody>
      </p:sp>
      <p:sp>
        <p:nvSpPr>
          <p:cNvPr id="37" name="TextBox 36"/>
          <p:cNvSpPr txBox="1"/>
          <p:nvPr/>
        </p:nvSpPr>
        <p:spPr>
          <a:xfrm>
            <a:off x="6583680" y="4937760"/>
            <a:ext cx="5166360" cy="914400"/>
          </a:xfrm>
          <a:prstGeom prst="rect">
            <a:avLst/>
          </a:prstGeom>
          <a:noFill/>
        </p:spPr>
        <p:txBody>
          <a:bodyPr wrap="square">
            <a:spAutoFit/>
          </a:bodyPr>
          <a:lstStyle/>
          <a:p>
            <a:pPr algn="l"/>
            <a:r>
              <a:rPr sz="1000" b="0" i="0">
                <a:solidFill>
                  <a:srgbClr val="556580"/>
                </a:solidFill>
                <a:latin typeface="Calibri"/>
              </a:rPr>
              <a:t>Keeping encryption keys and TLS certs in git — even for convenience — is a practice that must be avoided in any non-demo deployment.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2194560"/>
            <a:ext cx="12188952"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00"/>
            <a:ext cx="12188952"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47120" cy="640080"/>
          </a:xfrm>
          <a:prstGeom prst="rect">
            <a:avLst/>
          </a:prstGeom>
          <a:noFill/>
        </p:spPr>
        <p:txBody>
          <a:bodyPr wrap="square">
            <a:spAutoFit/>
          </a:bodyPr>
          <a:lstStyle/>
          <a:p>
            <a:pPr algn="ctr"/>
            <a:r>
              <a:rPr sz="2800" b="1" i="0">
                <a:solidFill>
                  <a:srgbClr val="CADCFC"/>
                </a:solidFill>
                <a:latin typeface="Calibri"/>
              </a:rPr>
              <a:t>Conclusion</a:t>
            </a:r>
          </a:p>
        </p:txBody>
      </p:sp>
      <p:sp>
        <p:nvSpPr>
          <p:cNvPr id="5" name="TextBox 4"/>
          <p:cNvSpPr txBox="1"/>
          <p:nvPr/>
        </p:nvSpPr>
        <p:spPr>
          <a:xfrm>
            <a:off x="914400" y="2377440"/>
            <a:ext cx="10332720" cy="2011680"/>
          </a:xfrm>
          <a:prstGeom prst="rect">
            <a:avLst/>
          </a:prstGeom>
          <a:noFill/>
        </p:spPr>
        <p:txBody>
          <a:bodyPr wrap="square">
            <a:spAutoFit/>
          </a:bodyPr>
          <a:lstStyle/>
          <a:p>
            <a:pPr algn="ctr"/>
            <a:r>
              <a:rPr sz="1400" b="0" i="0">
                <a:solidFill>
                  <a:srgbClr val="FFFFFF"/>
                </a:solidFill>
                <a:latin typeface="Calibri"/>
              </a:rPr>
              <a:t>We built a secure document sharing system that demonstrates production-grade security practices across every layer — from bcrypt password hashing and Fernet encryption at rest, to strict RBAC, input validation, session security, and structured audit logging.
Penetration testing confirmed no critical, high, or medium vulnerabilities. The two low-severity findings identified are known and have clear remediation paths.</a:t>
            </a:r>
          </a:p>
        </p:txBody>
      </p:sp>
      <p:sp>
        <p:nvSpPr>
          <p:cNvPr id="6" name="Rectangle 5"/>
          <p:cNvSpPr/>
          <p:nvPr/>
        </p:nvSpPr>
        <p:spPr>
          <a:xfrm>
            <a:off x="2560320" y="4864608"/>
            <a:ext cx="73152"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4754880"/>
            <a:ext cx="6858000" cy="347472"/>
          </a:xfrm>
          <a:prstGeom prst="rect">
            <a:avLst/>
          </a:prstGeom>
          <a:noFill/>
        </p:spPr>
        <p:txBody>
          <a:bodyPr wrap="square">
            <a:spAutoFit/>
          </a:bodyPr>
          <a:lstStyle/>
          <a:p>
            <a:pPr algn="l"/>
            <a:r>
              <a:rPr sz="1200" b="0" i="0">
                <a:solidFill>
                  <a:srgbClr val="CADCFC"/>
                </a:solidFill>
                <a:latin typeface="Calibri"/>
              </a:rPr>
              <a:t>Security is built in layers — no single control is sufficient</a:t>
            </a:r>
          </a:p>
        </p:txBody>
      </p:sp>
      <p:sp>
        <p:nvSpPr>
          <p:cNvPr id="8" name="Rectangle 7"/>
          <p:cNvSpPr/>
          <p:nvPr/>
        </p:nvSpPr>
        <p:spPr>
          <a:xfrm>
            <a:off x="2560320" y="5212080"/>
            <a:ext cx="73152"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0" y="5102352"/>
            <a:ext cx="6858000" cy="347472"/>
          </a:xfrm>
          <a:prstGeom prst="rect">
            <a:avLst/>
          </a:prstGeom>
          <a:noFill/>
        </p:spPr>
        <p:txBody>
          <a:bodyPr wrap="square">
            <a:spAutoFit/>
          </a:bodyPr>
          <a:lstStyle/>
          <a:p>
            <a:pPr algn="l"/>
            <a:r>
              <a:rPr sz="1200" b="0" i="0">
                <a:solidFill>
                  <a:srgbClr val="CADCFC"/>
                </a:solidFill>
                <a:latin typeface="Calibri"/>
              </a:rPr>
              <a:t>Test what shouldn't work as rigorously as what should</a:t>
            </a:r>
          </a:p>
        </p:txBody>
      </p:sp>
      <p:sp>
        <p:nvSpPr>
          <p:cNvPr id="10" name="Rectangle 9"/>
          <p:cNvSpPr/>
          <p:nvPr/>
        </p:nvSpPr>
        <p:spPr>
          <a:xfrm>
            <a:off x="2560320" y="5559552"/>
            <a:ext cx="73152"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0" y="5449824"/>
            <a:ext cx="6858000" cy="347472"/>
          </a:xfrm>
          <a:prstGeom prst="rect">
            <a:avLst/>
          </a:prstGeom>
          <a:noFill/>
        </p:spPr>
        <p:txBody>
          <a:bodyPr wrap="square">
            <a:spAutoFit/>
          </a:bodyPr>
          <a:lstStyle/>
          <a:p>
            <a:pPr algn="l"/>
            <a:r>
              <a:rPr sz="1200" b="0" i="0">
                <a:solidFill>
                  <a:srgbClr val="CADCFC"/>
                </a:solidFill>
                <a:latin typeface="Calibri"/>
              </a:rPr>
              <a:t>Encryption + key management is stronger than secure deletion alone</a:t>
            </a:r>
          </a:p>
        </p:txBody>
      </p:sp>
      <p:sp>
        <p:nvSpPr>
          <p:cNvPr id="12" name="TextBox 11"/>
          <p:cNvSpPr txBox="1"/>
          <p:nvPr/>
        </p:nvSpPr>
        <p:spPr>
          <a:xfrm>
            <a:off x="457200" y="6400800"/>
            <a:ext cx="11247120" cy="320040"/>
          </a:xfrm>
          <a:prstGeom prst="rect">
            <a:avLst/>
          </a:prstGeom>
          <a:noFill/>
        </p:spPr>
        <p:txBody>
          <a:bodyPr wrap="square">
            <a:spAutoFit/>
          </a:bodyPr>
          <a:lstStyle/>
          <a:p>
            <a:pPr algn="ctr"/>
            <a:r>
              <a:rPr sz="1100" b="0" i="1">
                <a:solidFill>
                  <a:srgbClr val="8AA8E8"/>
                </a:solidFill>
                <a:latin typeface="Calibri"/>
              </a:rPr>
              <a:t>CS 419  —  Spring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